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7" r:id="rId7"/>
    <p:sldId id="262" r:id="rId8"/>
    <p:sldId id="263" r:id="rId9"/>
    <p:sldId id="264" r:id="rId10"/>
    <p:sldId id="265" r:id="rId11"/>
    <p:sldId id="266" r:id="rId12"/>
  </p:sldIdLst>
  <p:sldSz cx="12192000" cy="6858000"/>
  <p:notesSz cx="12192000" cy="6858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C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60"/>
  </p:normalViewPr>
  <p:slideViewPr>
    <p:cSldViewPr showGuides="1">
      <p:cViewPr varScale="1">
        <p:scale>
          <a:sx n="60" d="100"/>
          <a:sy n="60" d="100"/>
        </p:scale>
        <p:origin x="816" y="52"/>
      </p:cViewPr>
      <p:guideLst>
        <p:guide orient="horz" pos="2880"/>
        <p:guide pos="214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Header Placeholder 1"/>
          <p:cNvSpPr>
            <a:spLocks noGrp="1" noChangeArrowheads="1"/>
          </p:cNvSpPr>
          <p:nvPr>
            <p:ph type="hdr" sz="quarter"/>
          </p:nvPr>
        </p:nvSpPr>
        <p:spPr bwMode="auto">
          <a:xfrm>
            <a:off x="0"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ECOVISION:Deep Learning model for Seasonal Detection</a:t>
            </a: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3" name="Date Placeholder 2"/>
          <p:cNvSpPr>
            <a:spLocks noGrp="1" noChangeArrowheads="1"/>
          </p:cNvSpPr>
          <p:nvPr>
            <p:ph type="dt" sz="quarter" idx="1"/>
          </p:nvPr>
        </p:nvSpPr>
        <p:spPr bwMode="auto">
          <a:xfrm>
            <a:off x="6905625"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7CD42C-AEDC-4204-92B9-4096A1E38DD8}" type="datetimeFigureOut">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11-12-2025</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Footer Placeholder 3"/>
          <p:cNvSpPr>
            <a:spLocks noGrp="1" noChangeArrowheads="1"/>
          </p:cNvSpPr>
          <p:nvPr>
            <p:ph type="ftr" sz="quarter" idx="2"/>
          </p:nvPr>
        </p:nvSpPr>
        <p:spPr bwMode="auto">
          <a:xfrm>
            <a:off x="0"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5" name="Slide Number Placeholder 4"/>
          <p:cNvSpPr>
            <a:spLocks noGrp="1" noChangeArrowheads="1"/>
          </p:cNvSpPr>
          <p:nvPr>
            <p:ph type="sldNum" sz="quarter" idx="3"/>
          </p:nvPr>
        </p:nvSpPr>
        <p:spPr bwMode="auto">
          <a:xfrm>
            <a:off x="6905625"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1BFA070-C9E3-4C62-BEFF-BB79EE19FBAA}" type="slidenum">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Header Placeholder 1"/>
          <p:cNvSpPr>
            <a:spLocks noGrp="1" noChangeArrowheads="1"/>
          </p:cNvSpPr>
          <p:nvPr>
            <p:ph type="hdr" sz="quarter"/>
          </p:nvPr>
        </p:nvSpPr>
        <p:spPr bwMode="auto">
          <a:xfrm>
            <a:off x="0"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ECOVISION:Deep Learning model for Seasonal Detection</a:t>
            </a: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099" name="Date Placeholder 2"/>
          <p:cNvSpPr>
            <a:spLocks noGrp="1" noChangeArrowheads="1"/>
          </p:cNvSpPr>
          <p:nvPr>
            <p:ph type="dt" idx="1"/>
          </p:nvPr>
        </p:nvSpPr>
        <p:spPr bwMode="auto">
          <a:xfrm>
            <a:off x="6905625"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9ED4C81-AEB8-429A-866B-14C6DF65D1DE}" type="datetimeFigureOut">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11-12-2025</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1219200" y="3300413"/>
            <a:ext cx="9753600" cy="27003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102" name="Footer Placeholder 5"/>
          <p:cNvSpPr>
            <a:spLocks noGrp="1" noChangeArrowheads="1"/>
          </p:cNvSpPr>
          <p:nvPr>
            <p:ph type="ftr" sz="quarter" idx="4"/>
          </p:nvPr>
        </p:nvSpPr>
        <p:spPr bwMode="auto">
          <a:xfrm>
            <a:off x="0"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103" name="Slide Number Placeholder 6"/>
          <p:cNvSpPr>
            <a:spLocks noGrp="1" noChangeArrowheads="1"/>
          </p:cNvSpPr>
          <p:nvPr>
            <p:ph type="sldNum" sz="quarter" idx="5"/>
          </p:nvPr>
        </p:nvSpPr>
        <p:spPr bwMode="auto">
          <a:xfrm>
            <a:off x="6905625"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DCD595E-9754-4667-9CB9-C45931948710}" type="slidenum">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a:solidFill>
              <a:srgbClr val="000000"/>
            </a:solidFill>
            <a:miter/>
          </a:ln>
        </p:spPr>
      </p:sp>
      <p:sp>
        <p:nvSpPr>
          <p:cNvPr id="9219" name="Notes Placeholder 2"/>
          <p:cNvSpPr>
            <a:spLocks noGrp="1"/>
          </p:cNvSpPr>
          <p:nvPr>
            <p:ph type="body" idx="1"/>
          </p:nvPr>
        </p:nvSpPr>
        <p:spPr>
          <a:xfrm>
            <a:off x="1219200" y="3300413"/>
            <a:ext cx="9753600" cy="2700337"/>
          </a:xfrm>
          <a:noFill/>
          <a:ln>
            <a:noFill/>
          </a:ln>
        </p:spPr>
        <p:txBody>
          <a:bodyPr wrap="square" lIns="91440" tIns="45720" rIns="91440" bIns="45720" anchor="t" anchorCtr="0"/>
          <a:lstStyle/>
          <a:p>
            <a:pPr lvl="0"/>
            <a:endParaRPr lang="en-IN" altLang="x-none" dirty="0"/>
          </a:p>
        </p:txBody>
      </p:sp>
      <p:sp>
        <p:nvSpPr>
          <p:cNvPr id="9220" name="Header Placeholder 3"/>
          <p:cNvSpPr txBox="1">
            <a:spLocks noGrp="1"/>
          </p:cNvSpPr>
          <p:nvPr>
            <p:ph type="hdr" sz="quarter"/>
          </p:nvPr>
        </p:nvSpPr>
        <p:spPr>
          <a:xfrm>
            <a:off x="0" y="0"/>
            <a:ext cx="5283200" cy="344488"/>
          </a:xfrm>
          <a:prstGeom prst="rect">
            <a:avLst/>
          </a:prstGeom>
          <a:noFill/>
          <a:ln w="9525">
            <a:noFill/>
          </a:ln>
        </p:spPr>
        <p:txBody>
          <a:bodyPr/>
          <a:lstStyle/>
          <a:p>
            <a:pPr lvl="0" eaLnBrk="1" hangingPunct="1">
              <a:buNone/>
            </a:pPr>
            <a:r>
              <a:rPr lang="en-US" altLang="en-US" sz="1200" dirty="0">
                <a:solidFill>
                  <a:srgbClr val="000000"/>
                </a:solidFill>
              </a:rPr>
              <a:t>ECOVISION:Deep Learning model for Seasonal Detection</a:t>
            </a:r>
            <a:endParaRPr lang="en-IN" altLang="en-US" sz="1200" dirty="0">
              <a:solidFill>
                <a:srgbClr val="000000"/>
              </a:solidFill>
            </a:endParaRPr>
          </a:p>
        </p:txBody>
      </p:sp>
      <p:sp>
        <p:nvSpPr>
          <p:cNvPr id="9221" name="Slide Number Placeholder 4"/>
          <p:cNvSpPr txBox="1">
            <a:spLocks noGrp="1"/>
          </p:cNvSpPr>
          <p:nvPr>
            <p:ph type="sldNum" sz="quarter"/>
          </p:nvPr>
        </p:nvSpPr>
        <p:spPr>
          <a:xfrm>
            <a:off x="6905625" y="6513513"/>
            <a:ext cx="5283200" cy="344487"/>
          </a:xfrm>
          <a:prstGeom prst="rect">
            <a:avLst/>
          </a:prstGeom>
          <a:noFill/>
          <a:ln w="9525">
            <a:noFill/>
          </a:ln>
        </p:spPr>
        <p:txBody>
          <a:bodyPr anchor="b" anchorCtr="0"/>
          <a:lstStyle/>
          <a:p>
            <a:pPr lvl="0" algn="r" eaLnBrk="1" hangingPunct="1">
              <a:buNone/>
            </a:pPr>
            <a:fld id="{9A0DB2DC-4C9A-4742-B13C-FB6460FD3503}" type="slidenum">
              <a:rPr lang="en-IN" altLang="en-US" sz="1200" dirty="0">
                <a:solidFill>
                  <a:srgbClr val="000000"/>
                </a:solidFill>
              </a:rPr>
              <a:t>3</a:t>
            </a:fld>
            <a:endParaRPr lang="en-IN" altLang="en-US" sz="1200" dirty="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a:lstStyle>
            <a:lvl1pPr>
              <a:defRPr sz="2800" b="0" i="0">
                <a:solidFill>
                  <a:schemeClr val="tx1"/>
                </a:solidFill>
                <a:latin typeface="Times New Roman" panose="02020603050405020304"/>
                <a:cs typeface="Times New Roman" panose="02020603050405020304"/>
              </a:defRPr>
            </a:lvl1pPr>
          </a:lstStyle>
          <a:p>
            <a:endParaRPr/>
          </a:p>
        </p:txBody>
      </p:sp>
      <p:sp>
        <p:nvSpPr>
          <p:cNvPr id="4" name="Footer Placeholder 3"/>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Date Placeholder 4"/>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Slide Number Placeholder 5"/>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050"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2051"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2052"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2053" name="bg object 19"/>
          <p:cNvPicPr>
            <a:picLocks noChangeAspect="1"/>
          </p:cNvPicPr>
          <p:nvPr/>
        </p:nvPicPr>
        <p:blipFill>
          <a:blip r:embed="rId2"/>
          <a:stretch>
            <a:fillRect/>
          </a:stretch>
        </p:blipFill>
        <p:spPr>
          <a:xfrm>
            <a:off x="11506200" y="5956300"/>
            <a:ext cx="685800" cy="681038"/>
          </a:xfrm>
          <a:prstGeom prst="rect">
            <a:avLst/>
          </a:prstGeom>
          <a:noFill/>
          <a:ln w="9525">
            <a:noFill/>
          </a:ln>
        </p:spPr>
      </p:pic>
      <p:sp>
        <p:nvSpPr>
          <p:cNvPr id="2054"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2055" name="bg object 21"/>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a:lstStyle>
            <a:lvl1pPr>
              <a:defRPr sz="2800" b="0" i="0">
                <a:solidFill>
                  <a:schemeClr val="tx1"/>
                </a:solidFill>
                <a:latin typeface="Times New Roman" panose="02020603050405020304"/>
                <a:cs typeface="Times New Roman" panose="02020603050405020304"/>
              </a:defRPr>
            </a:lvl1pPr>
          </a:lstStyle>
          <a:p>
            <a:endParaRPr/>
          </a:p>
        </p:txBody>
      </p:sp>
      <p:sp>
        <p:nvSpPr>
          <p:cNvPr id="18" name="Holder 4"/>
          <p:cNvSpPr>
            <a:spLocks noGrp="1"/>
          </p:cNvSpPr>
          <p:nvPr>
            <p:ph type="ftr" sz="quarter" idx="3"/>
          </p:nvPr>
        </p:nvSpPr>
        <p:spPr>
          <a:xfrm>
            <a:off x="149225" y="6629400"/>
            <a:ext cx="635000"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19" name="Holder 5"/>
          <p:cNvSpPr>
            <a:spLocks noGrp="1"/>
          </p:cNvSpPr>
          <p:nvPr>
            <p:ph type="dt" sz="half" idx="2"/>
          </p:nvPr>
        </p:nvSpPr>
        <p:spPr>
          <a:xfrm>
            <a:off x="1773238" y="6629400"/>
            <a:ext cx="3662363"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20" name="Holder 6"/>
          <p:cNvSpPr>
            <a:spLocks noGrp="1"/>
          </p:cNvSpPr>
          <p:nvPr>
            <p:ph type="sldNum" sz="quarter" idx="4"/>
          </p:nvPr>
        </p:nvSpPr>
        <p:spPr>
          <a:xfrm>
            <a:off x="11793538" y="6629400"/>
            <a:ext cx="228600" cy="250825"/>
          </a:xfrm>
          <a:prstGeom prst="rect">
            <a:avLst/>
          </a:prstGeom>
        </p:spPr>
        <p:txBody>
          <a:bodyPr wrap="square" lIns="0" tIns="0" rIns="0" bIns="0">
            <a:spAutoFit/>
          </a:bodyPr>
          <a:lstStyle>
            <a:lvl1pPr>
              <a:defRPr sz="1600" b="1" i="0">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5A22DA06-3D3F-4FF3-A623-B1EF8BB22DFD}"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a:lstStyle>
            <a:lvl1pPr>
              <a:defRPr/>
            </a:lvl1pPr>
          </a:lstStyle>
          <a:p>
            <a:endParaRPr/>
          </a:p>
        </p:txBody>
      </p:sp>
      <p:sp>
        <p:nvSpPr>
          <p:cNvPr id="5" name="Footer Placeholder 4"/>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Date Placeholder 5"/>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7" name="Slide Number Placeholder 6"/>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Footer Placeholder 2"/>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4" name="Date Placeholder 3"/>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Slide Number Placeholder 4"/>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3074"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3075"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3076"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3077" name="bg object 19"/>
          <p:cNvPicPr>
            <a:picLocks noChangeAspect="1"/>
          </p:cNvPicPr>
          <p:nvPr/>
        </p:nvPicPr>
        <p:blipFill>
          <a:blip r:embed="rId2"/>
          <a:stretch>
            <a:fillRect/>
          </a:stretch>
        </p:blipFill>
        <p:spPr>
          <a:xfrm>
            <a:off x="11506200" y="5956300"/>
            <a:ext cx="685800" cy="681038"/>
          </a:xfrm>
          <a:prstGeom prst="rect">
            <a:avLst/>
          </a:prstGeom>
          <a:noFill/>
          <a:ln w="9525">
            <a:noFill/>
          </a:ln>
        </p:spPr>
      </p:pic>
      <p:sp>
        <p:nvSpPr>
          <p:cNvPr id="3078"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3079" name="bg object 21"/>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18" name="Holder 2"/>
          <p:cNvSpPr>
            <a:spLocks noGrp="1"/>
          </p:cNvSpPr>
          <p:nvPr>
            <p:ph type="ftr" sz="quarter" idx="3"/>
          </p:nvPr>
        </p:nvSpPr>
        <p:spPr>
          <a:xfrm>
            <a:off x="149225" y="6629400"/>
            <a:ext cx="635000"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19" name="Holder 3"/>
          <p:cNvSpPr>
            <a:spLocks noGrp="1"/>
          </p:cNvSpPr>
          <p:nvPr>
            <p:ph type="dt" sz="half" idx="2"/>
          </p:nvPr>
        </p:nvSpPr>
        <p:spPr>
          <a:xfrm>
            <a:off x="1773238" y="6629400"/>
            <a:ext cx="3662363"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20" name="Holder 4"/>
          <p:cNvSpPr>
            <a:spLocks noGrp="1"/>
          </p:cNvSpPr>
          <p:nvPr>
            <p:ph type="sldNum" sz="quarter" idx="4"/>
          </p:nvPr>
        </p:nvSpPr>
        <p:spPr>
          <a:xfrm>
            <a:off x="11793538" y="6629400"/>
            <a:ext cx="228600" cy="250825"/>
          </a:xfrm>
          <a:prstGeom prst="rect">
            <a:avLst/>
          </a:prstGeom>
        </p:spPr>
        <p:txBody>
          <a:bodyPr wrap="square" lIns="0" tIns="0" rIns="0" bIns="0">
            <a:spAutoFit/>
          </a:bodyPr>
          <a:lstStyle>
            <a:lvl1pPr>
              <a:defRPr sz="1600" b="1" i="0">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5D07E84F-3EC1-4B76-8752-AC3007DD468D}"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1027"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1028"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1029" name="bg object 19"/>
          <p:cNvPicPr>
            <a:picLocks noChangeAspect="1"/>
          </p:cNvPicPr>
          <p:nvPr/>
        </p:nvPicPr>
        <p:blipFill>
          <a:blip r:embed="rId7"/>
          <a:stretch>
            <a:fillRect/>
          </a:stretch>
        </p:blipFill>
        <p:spPr>
          <a:xfrm>
            <a:off x="11506200" y="5956300"/>
            <a:ext cx="685800" cy="681038"/>
          </a:xfrm>
          <a:prstGeom prst="rect">
            <a:avLst/>
          </a:prstGeom>
          <a:noFill/>
          <a:ln w="9525">
            <a:noFill/>
          </a:ln>
        </p:spPr>
      </p:pic>
      <p:sp>
        <p:nvSpPr>
          <p:cNvPr id="1030"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1031" name="Holder 2"/>
          <p:cNvSpPr>
            <a:spLocks noGrp="1"/>
          </p:cNvSpPr>
          <p:nvPr>
            <p:ph type="title"/>
          </p:nvPr>
        </p:nvSpPr>
        <p:spPr>
          <a:xfrm>
            <a:off x="73025" y="182563"/>
            <a:ext cx="4738688" cy="695325"/>
          </a:xfrm>
          <a:prstGeom prst="rect">
            <a:avLst/>
          </a:prstGeom>
          <a:noFill/>
          <a:ln w="9525">
            <a:noFill/>
          </a:ln>
        </p:spPr>
        <p:txBody>
          <a:bodyPr lIns="0" tIns="0" rIns="0" bIns="0">
            <a:spAutoFit/>
          </a:bodyPr>
          <a:lstStyle/>
          <a:p>
            <a:pPr lvl="0"/>
            <a:endParaRPr lang="en-US" altLang="en-US" dirty="0"/>
          </a:p>
        </p:txBody>
      </p:sp>
      <p:sp>
        <p:nvSpPr>
          <p:cNvPr id="1032" name="Holder 3"/>
          <p:cNvSpPr>
            <a:spLocks noGrp="1"/>
          </p:cNvSpPr>
          <p:nvPr>
            <p:ph type="body" idx="1"/>
          </p:nvPr>
        </p:nvSpPr>
        <p:spPr>
          <a:xfrm>
            <a:off x="236538" y="1074738"/>
            <a:ext cx="11347450" cy="3136900"/>
          </a:xfrm>
          <a:prstGeom prst="rect">
            <a:avLst/>
          </a:prstGeom>
          <a:noFill/>
          <a:ln w="9525">
            <a:noFill/>
          </a:ln>
        </p:spPr>
        <p:txBody>
          <a:bodyPr lIns="0" tIns="0" rIns="0" bIns="0">
            <a:spAutoFit/>
          </a:bodyPr>
          <a:lstStyle/>
          <a:p>
            <a:pPr lvl="0"/>
            <a:endParaRPr lang="en-US" altLang="en-US" dirty="0"/>
          </a:p>
        </p:txBody>
      </p:sp>
      <p:sp>
        <p:nvSpPr>
          <p:cNvPr id="4" name="Holder 4"/>
          <p:cNvSpPr>
            <a:spLocks noGrp="1"/>
          </p:cNvSpPr>
          <p:nvPr>
            <p:ph type="ftr" sz="quarter" idx="5"/>
          </p:nvPr>
        </p:nvSpPr>
        <p:spPr>
          <a:xfrm>
            <a:off x="149225" y="6629400"/>
            <a:ext cx="635000"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0" i="0" kern="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Holder 5"/>
          <p:cNvSpPr>
            <a:spLocks noGrp="1"/>
          </p:cNvSpPr>
          <p:nvPr>
            <p:ph type="dt" sz="half" idx="6"/>
          </p:nvPr>
        </p:nvSpPr>
        <p:spPr>
          <a:xfrm>
            <a:off x="1773238" y="6629400"/>
            <a:ext cx="3662363"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0" i="0" kern="0" cap="small" spc="-75">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Holder 6"/>
          <p:cNvSpPr>
            <a:spLocks noGrp="1"/>
          </p:cNvSpPr>
          <p:nvPr>
            <p:ph type="sldNum" sz="quarter" idx="7"/>
          </p:nvPr>
        </p:nvSpPr>
        <p:spPr>
          <a:xfrm>
            <a:off x="11793538" y="6629400"/>
            <a:ext cx="228600"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1" i="0" kern="0" spc="-25">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mdpi.com/2072-4292/10/11/1784"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146" name="object 2"/>
          <p:cNvGrpSpPr/>
          <p:nvPr/>
        </p:nvGrpSpPr>
        <p:grpSpPr>
          <a:xfrm>
            <a:off x="777875" y="6634163"/>
            <a:ext cx="11414125" cy="223837"/>
            <a:chOff x="777240" y="6634440"/>
            <a:chExt cx="11414760" cy="223520"/>
          </a:xfrm>
        </p:grpSpPr>
        <p:sp>
          <p:nvSpPr>
            <p:cNvPr id="6160" name="object 3"/>
            <p:cNvSpPr/>
            <p:nvPr/>
          </p:nvSpPr>
          <p:spPr>
            <a:xfrm>
              <a:off x="777240" y="6634440"/>
              <a:ext cx="5781675" cy="220979"/>
            </a:xfrm>
            <a:custGeom>
              <a:avLst/>
              <a:gdLst/>
              <a:ahLst/>
              <a:cxnLst>
                <a:cxn ang="0">
                  <a:pos x="5781599" y="220679"/>
                </a:cxn>
                <a:cxn ang="0">
                  <a:pos x="0" y="220679"/>
                </a:cxn>
                <a:cxn ang="0">
                  <a:pos x="0" y="0"/>
                </a:cxn>
                <a:cxn ang="0">
                  <a:pos x="5781599" y="0"/>
                </a:cxn>
                <a:cxn ang="0">
                  <a:pos x="5781599" y="220679"/>
                </a:cxn>
              </a:cxnLst>
              <a:rect l="0" t="0" r="0" b="0"/>
              <a:pathLst>
                <a:path w="5781675" h="220979">
                  <a:moveTo>
                    <a:pt x="5781599" y="220679"/>
                  </a:moveTo>
                  <a:lnTo>
                    <a:pt x="0" y="220679"/>
                  </a:lnTo>
                  <a:lnTo>
                    <a:pt x="0" y="0"/>
                  </a:lnTo>
                  <a:lnTo>
                    <a:pt x="5781599" y="0"/>
                  </a:lnTo>
                  <a:lnTo>
                    <a:pt x="5781599" y="220679"/>
                  </a:lnTo>
                  <a:close/>
                </a:path>
              </a:pathLst>
            </a:custGeom>
            <a:solidFill>
              <a:srgbClr val="002060">
                <a:alpha val="100000"/>
              </a:srgbClr>
            </a:solidFill>
            <a:ln w="9525">
              <a:noFill/>
            </a:ln>
          </p:spPr>
          <p:txBody>
            <a:bodyPr/>
            <a:lstStyle/>
            <a:p>
              <a:endParaRPr lang="en-US"/>
            </a:p>
          </p:txBody>
        </p:sp>
        <p:sp>
          <p:nvSpPr>
            <p:cNvPr id="6161" name="object 4"/>
            <p:cNvSpPr/>
            <p:nvPr/>
          </p:nvSpPr>
          <p:spPr>
            <a:xfrm>
              <a:off x="6559199" y="6634440"/>
              <a:ext cx="5194935" cy="220979"/>
            </a:xfrm>
            <a:custGeom>
              <a:avLst/>
              <a:gdLst/>
              <a:ahLst/>
              <a:cxnLst>
                <a:cxn ang="0">
                  <a:pos x="5194801" y="220679"/>
                </a:cxn>
                <a:cxn ang="0">
                  <a:pos x="0" y="220679"/>
                </a:cxn>
                <a:cxn ang="0">
                  <a:pos x="0" y="0"/>
                </a:cxn>
                <a:cxn ang="0">
                  <a:pos x="5194801" y="0"/>
                </a:cxn>
                <a:cxn ang="0">
                  <a:pos x="5194801" y="220679"/>
                </a:cxn>
              </a:cxnLst>
              <a:rect l="0" t="0" r="0" b="0"/>
              <a:pathLst>
                <a:path w="5194934" h="220979">
                  <a:moveTo>
                    <a:pt x="5194799" y="220679"/>
                  </a:moveTo>
                  <a:lnTo>
                    <a:pt x="0" y="220679"/>
                  </a:lnTo>
                  <a:lnTo>
                    <a:pt x="0" y="0"/>
                  </a:lnTo>
                  <a:lnTo>
                    <a:pt x="5194799" y="0"/>
                  </a:lnTo>
                  <a:lnTo>
                    <a:pt x="5194799" y="220679"/>
                  </a:lnTo>
                  <a:close/>
                </a:path>
              </a:pathLst>
            </a:custGeom>
            <a:solidFill>
              <a:srgbClr val="008080">
                <a:alpha val="100000"/>
              </a:srgbClr>
            </a:solidFill>
            <a:ln w="9525">
              <a:noFill/>
            </a:ln>
          </p:spPr>
          <p:txBody>
            <a:bodyPr/>
            <a:lstStyle/>
            <a:p>
              <a:endParaRPr lang="en-US"/>
            </a:p>
          </p:txBody>
        </p:sp>
        <p:sp>
          <p:nvSpPr>
            <p:cNvPr id="6162" name="object 5"/>
            <p:cNvSpPr/>
            <p:nvPr/>
          </p:nvSpPr>
          <p:spPr>
            <a:xfrm>
              <a:off x="11754359" y="6636960"/>
              <a:ext cx="437515" cy="220979"/>
            </a:xfrm>
            <a:custGeom>
              <a:avLst/>
              <a:gdLst/>
              <a:ahLst/>
              <a:cxnLst>
                <a:cxn ang="0">
                  <a:pos x="437399" y="220679"/>
                </a:cxn>
                <a:cxn ang="0">
                  <a:pos x="0" y="220679"/>
                </a:cxn>
                <a:cxn ang="0">
                  <a:pos x="0" y="0"/>
                </a:cxn>
                <a:cxn ang="0">
                  <a:pos x="437399" y="0"/>
                </a:cxn>
                <a:cxn ang="0">
                  <a:pos x="437399" y="220679"/>
                </a:cxn>
              </a:cxnLst>
              <a:rect l="0" t="0" r="0" b="0"/>
              <a:pathLst>
                <a:path w="437515" h="220979">
                  <a:moveTo>
                    <a:pt x="437399" y="220679"/>
                  </a:moveTo>
                  <a:lnTo>
                    <a:pt x="0" y="220679"/>
                  </a:lnTo>
                  <a:lnTo>
                    <a:pt x="0" y="0"/>
                  </a:lnTo>
                  <a:lnTo>
                    <a:pt x="437399" y="0"/>
                  </a:lnTo>
                  <a:lnTo>
                    <a:pt x="437399" y="220679"/>
                  </a:lnTo>
                  <a:close/>
                </a:path>
              </a:pathLst>
            </a:custGeom>
            <a:solidFill>
              <a:srgbClr val="FFC000">
                <a:alpha val="100000"/>
              </a:srgbClr>
            </a:solidFill>
            <a:ln w="9525">
              <a:noFill/>
            </a:ln>
          </p:spPr>
          <p:txBody>
            <a:bodyPr/>
            <a:lstStyle/>
            <a:p>
              <a:endParaRPr lang="en-US"/>
            </a:p>
          </p:txBody>
        </p:sp>
      </p:grpSp>
      <p:sp>
        <p:nvSpPr>
          <p:cNvPr id="6147" name="object 6"/>
          <p:cNvSpPr/>
          <p:nvPr/>
        </p:nvSpPr>
        <p:spPr>
          <a:xfrm>
            <a:off x="0" y="-6350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6148" name="object 7"/>
          <p:cNvSpPr/>
          <p:nvPr/>
        </p:nvSpPr>
        <p:spPr>
          <a:xfrm>
            <a:off x="0" y="6634163"/>
            <a:ext cx="777875" cy="222250"/>
          </a:xfrm>
          <a:custGeom>
            <a:avLst/>
            <a:gdLst/>
            <a:ahLst/>
            <a:cxnLst>
              <a:cxn ang="0">
                <a:pos x="778149" y="222307"/>
              </a:cxn>
              <a:cxn ang="0">
                <a:pos x="0" y="222307"/>
              </a:cxn>
              <a:cxn ang="0">
                <a:pos x="0" y="0"/>
              </a:cxn>
              <a:cxn ang="0">
                <a:pos x="778149" y="0"/>
              </a:cxn>
              <a:cxn ang="0">
                <a:pos x="778149" y="222307"/>
              </a:cxn>
            </a:cxnLst>
            <a:rect l="0" t="0" r="0" b="0"/>
            <a:pathLst>
              <a:path w="777240" h="221615">
                <a:moveTo>
                  <a:pt x="776879" y="221039"/>
                </a:moveTo>
                <a:lnTo>
                  <a:pt x="0" y="221039"/>
                </a:lnTo>
                <a:lnTo>
                  <a:pt x="0" y="0"/>
                </a:lnTo>
                <a:lnTo>
                  <a:pt x="776879" y="0"/>
                </a:lnTo>
                <a:lnTo>
                  <a:pt x="776879" y="221039"/>
                </a:lnTo>
                <a:close/>
              </a:path>
            </a:pathLst>
          </a:custGeom>
          <a:solidFill>
            <a:srgbClr val="C55A11">
              <a:alpha val="100000"/>
            </a:srgbClr>
          </a:solidFill>
          <a:ln w="9525">
            <a:noFill/>
          </a:ln>
        </p:spPr>
        <p:txBody>
          <a:bodyPr/>
          <a:lstStyle/>
          <a:p>
            <a:endParaRPr lang="en-US"/>
          </a:p>
        </p:txBody>
      </p:sp>
      <p:sp>
        <p:nvSpPr>
          <p:cNvPr id="8" name="object 8"/>
          <p:cNvSpPr txBox="1"/>
          <p:nvPr/>
        </p:nvSpPr>
        <p:spPr>
          <a:xfrm>
            <a:off x="7727950" y="1801813"/>
            <a:ext cx="2559050" cy="415627"/>
          </a:xfrm>
          <a:prstGeom prst="rect">
            <a:avLst/>
          </a:prstGeom>
        </p:spPr>
        <p:txBody>
          <a:bodyPr wrap="square" lIns="0" tIns="13335" rIns="0" bIns="0">
            <a:spAutoFit/>
          </a:bodyPr>
          <a:lstStyle/>
          <a:p>
            <a:pPr algn="ctr" eaLnBrk="1" hangingPunct="1">
              <a:lnSpc>
                <a:spcPts val="2075"/>
              </a:lnSpc>
              <a:spcBef>
                <a:spcPts val="100"/>
              </a:spcBef>
              <a:buNone/>
            </a:pPr>
            <a:r>
              <a:rPr sz="1700" dirty="0">
                <a:solidFill>
                  <a:srgbClr val="000000"/>
                </a:solidFill>
                <a:latin typeface="Times New Roman" panose="02020603050405020304" pitchFamily="18" charset="0"/>
                <a:cs typeface="Times New Roman" panose="02020603050405020304" pitchFamily="18" charset="0"/>
              </a:rPr>
              <a:t>Maneedeep M</a:t>
            </a:r>
            <a:endParaRPr lang="zh-CN" altLang="x-none" sz="1700"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1065"/>
              </a:lnSpc>
              <a:buNone/>
            </a:pPr>
            <a:r>
              <a:rPr lang="zh-CN" altLang="x-none" sz="900" dirty="0">
                <a:solidFill>
                  <a:srgbClr val="000000"/>
                </a:solidFill>
                <a:latin typeface="Times New Roman" panose="02020603050405020304" pitchFamily="18" charset="0"/>
                <a:cs typeface="Times New Roman" panose="02020603050405020304" pitchFamily="18" charset="0"/>
              </a:rPr>
              <a:t>Roll No. </a:t>
            </a:r>
            <a:r>
              <a:rPr sz="900" dirty="0">
                <a:solidFill>
                  <a:srgbClr val="000000"/>
                </a:solidFill>
                <a:latin typeface="Times New Roman" panose="02020603050405020304" pitchFamily="18" charset="0"/>
                <a:cs typeface="Times New Roman" panose="02020603050405020304" pitchFamily="18" charset="0"/>
              </a:rPr>
              <a:t>234G5A0505</a:t>
            </a:r>
            <a:endParaRPr lang="zh-CN" altLang="x-none" sz="900" dirty="0">
              <a:solidFill>
                <a:srgbClr val="000000"/>
              </a:solidFill>
              <a:latin typeface="Times New Roman" panose="02020603050405020304" pitchFamily="18" charset="0"/>
              <a:ea typeface="Times New Roman" panose="02020603050405020304" pitchFamily="18" charset="0"/>
            </a:endParaRPr>
          </a:p>
        </p:txBody>
      </p:sp>
      <p:sp>
        <p:nvSpPr>
          <p:cNvPr id="6150" name="object 9"/>
          <p:cNvSpPr txBox="1"/>
          <p:nvPr/>
        </p:nvSpPr>
        <p:spPr>
          <a:xfrm>
            <a:off x="3657600" y="2312670"/>
            <a:ext cx="5181600" cy="1130935"/>
          </a:xfrm>
          <a:prstGeom prst="rect">
            <a:avLst/>
          </a:prstGeom>
          <a:noFill/>
          <a:ln w="9525">
            <a:noFill/>
          </a:ln>
        </p:spPr>
        <p:txBody>
          <a:bodyPr lIns="0" tIns="12700" rIns="0" bIns="0">
            <a:noAutofit/>
          </a:bodyPr>
          <a:lstStyle/>
          <a:p>
            <a:pPr algn="ctr" eaLnBrk="1" hangingPunct="1">
              <a:lnSpc>
                <a:spcPts val="1625"/>
              </a:lnSpc>
              <a:spcBef>
                <a:spcPts val="100"/>
              </a:spcBef>
            </a:pPr>
            <a:r>
              <a:rPr lang="en-US" altLang="en-US" sz="1600" i="1" dirty="0">
                <a:solidFill>
                  <a:srgbClr val="000000"/>
                </a:solidFill>
                <a:latin typeface="Times New Roman" panose="02020603050405020304" pitchFamily="18" charset="0"/>
                <a:cs typeface="Times New Roman" panose="02020603050405020304" pitchFamily="18" charset="0"/>
              </a:rPr>
              <a:t>Under the guidance of</a:t>
            </a:r>
            <a:endParaRPr lang="en-US" altLang="en-US" sz="1600"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2790"/>
              </a:lnSpc>
              <a:spcBef>
                <a:spcPts val="115"/>
              </a:spcBef>
            </a:pPr>
            <a:r>
              <a:rPr lang="en-US" altLang="en-US" sz="2000" dirty="0">
                <a:solidFill>
                  <a:srgbClr val="000000"/>
                </a:solidFill>
                <a:latin typeface="Times New Roman" panose="02020603050405020304" pitchFamily="18" charset="0"/>
                <a:cs typeface="Times New Roman" panose="02020603050405020304" pitchFamily="18" charset="0"/>
              </a:rPr>
              <a:t>Dr. P Veera Prakash </a:t>
            </a:r>
            <a:r>
              <a:rPr lang="en-US" altLang="en-US" sz="2000" baseline="-25000" dirty="0">
                <a:solidFill>
                  <a:srgbClr val="000000"/>
                </a:solidFill>
                <a:latin typeface="Times New Roman" panose="02020603050405020304" pitchFamily="18" charset="0"/>
                <a:cs typeface="Times New Roman" panose="02020603050405020304" pitchFamily="18" charset="0"/>
              </a:rPr>
              <a:t>M.Tech.,</a:t>
            </a:r>
            <a:r>
              <a:rPr lang="en-US" altLang="en-US" sz="2000" dirty="0">
                <a:solidFill>
                  <a:srgbClr val="000000"/>
                </a:solidFill>
                <a:latin typeface="Times New Roman" panose="02020603050405020304" pitchFamily="18" charset="0"/>
                <a:cs typeface="Times New Roman" panose="02020603050405020304" pitchFamily="18" charset="0"/>
              </a:rPr>
              <a:t> </a:t>
            </a:r>
            <a:r>
              <a:rPr lang="en-US" altLang="en-US" sz="2000" baseline="-25000" dirty="0" err="1">
                <a:solidFill>
                  <a:srgbClr val="000000"/>
                </a:solidFill>
                <a:latin typeface="Times New Roman" panose="02020603050405020304" pitchFamily="18" charset="0"/>
                <a:cs typeface="Times New Roman" panose="02020603050405020304" pitchFamily="18" charset="0"/>
              </a:rPr>
              <a:t>Ph</a:t>
            </a:r>
            <a:r>
              <a:rPr lang="en-US" altLang="en-US" sz="2000" baseline="-25000" dirty="0" err="1">
                <a:solidFill>
                  <a:srgbClr val="000000"/>
                </a:solidFill>
                <a:latin typeface="Arial" panose="020B0604020202020204" pitchFamily="34" charset="0"/>
              </a:rPr>
              <a:t>.</a:t>
            </a:r>
            <a:r>
              <a:rPr lang="en-US" altLang="en-US" sz="2000" baseline="-25000" dirty="0" err="1">
                <a:solidFill>
                  <a:srgbClr val="000000"/>
                </a:solidFill>
                <a:latin typeface="Times New Roman" panose="02020603050405020304" pitchFamily="18" charset="0"/>
                <a:cs typeface="Times New Roman" panose="02020603050405020304" pitchFamily="18" charset="0"/>
              </a:rPr>
              <a:t>D</a:t>
            </a:r>
            <a:endParaRPr lang="en-US" altLang="en-US" sz="2000" baseline="-25000" dirty="0">
              <a:solidFill>
                <a:srgbClr val="000000"/>
              </a:solidFill>
              <a:latin typeface="Arial" panose="020B0604020202020204" pitchFamily="34" charset="0"/>
            </a:endParaRPr>
          </a:p>
          <a:p>
            <a:pPr algn="ctr" eaLnBrk="1" hangingPunct="1">
              <a:lnSpc>
                <a:spcPts val="2790"/>
              </a:lnSpc>
              <a:spcBef>
                <a:spcPts val="115"/>
              </a:spcBef>
            </a:pPr>
            <a:r>
              <a:rPr lang="en-IN" altLang="en-US" sz="2000" baseline="-25000" dirty="0">
                <a:solidFill>
                  <a:srgbClr val="000000"/>
                </a:solidFill>
                <a:latin typeface="Times New Roman" panose="02020603050405020304" pitchFamily="18" charset="0"/>
                <a:cs typeface="Times New Roman" panose="02020603050405020304" pitchFamily="18" charset="0"/>
              </a:rPr>
              <a:t>Assistant Professor &amp; HOD</a:t>
            </a:r>
            <a:endParaRPr lang="en-US" altLang="en-US" sz="2000" baseline="-25000"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2790"/>
              </a:lnSpc>
              <a:spcBef>
                <a:spcPts val="115"/>
              </a:spcBef>
            </a:pPr>
            <a:endParaRPr lang="en-IN" altLang="en-US" sz="2000" dirty="0">
              <a:solidFill>
                <a:srgbClr val="000000"/>
              </a:solidFill>
              <a:latin typeface="Arial" panose="020B0604020202020204" pitchFamily="34" charset="0"/>
            </a:endParaRPr>
          </a:p>
          <a:p>
            <a:pPr algn="ctr" eaLnBrk="1" hangingPunct="1">
              <a:lnSpc>
                <a:spcPts val="2790"/>
              </a:lnSpc>
              <a:spcBef>
                <a:spcPts val="115"/>
              </a:spcBef>
            </a:pPr>
            <a:endParaRPr lang="en-US" altLang="en-US" sz="2400" dirty="0">
              <a:solidFill>
                <a:srgbClr val="000000"/>
              </a:solidFill>
              <a:latin typeface="Times New Roman" panose="02020603050405020304" pitchFamily="18" charset="0"/>
              <a:ea typeface="Times New Roman" panose="02020603050405020304" pitchFamily="18" charset="0"/>
            </a:endParaRPr>
          </a:p>
        </p:txBody>
      </p:sp>
      <p:sp>
        <p:nvSpPr>
          <p:cNvPr id="10" name="object 10"/>
          <p:cNvSpPr txBox="1"/>
          <p:nvPr/>
        </p:nvSpPr>
        <p:spPr>
          <a:xfrm>
            <a:off x="2147888" y="5095875"/>
            <a:ext cx="7889875" cy="1449388"/>
          </a:xfrm>
          <a:prstGeom prst="rect">
            <a:avLst/>
          </a:prstGeom>
        </p:spPr>
        <p:txBody>
          <a:bodyPr lIns="0" tIns="13335" rIns="0" bIns="0">
            <a:spAutoFit/>
          </a:bodyPr>
          <a:lstStyle/>
          <a:p>
            <a:pPr marL="3175" algn="ctr" eaLnBrk="1" hangingPunct="1">
              <a:lnSpc>
                <a:spcPts val="2300"/>
              </a:lnSpc>
              <a:spcBef>
                <a:spcPts val="100"/>
              </a:spcBef>
              <a:buNone/>
            </a:pPr>
            <a:r>
              <a:rPr lang="zh-CN" altLang="x-none" sz="2200">
                <a:solidFill>
                  <a:srgbClr val="000000"/>
                </a:solidFill>
                <a:latin typeface="Times New Roman" panose="02020603050405020304" pitchFamily="18" charset="0"/>
                <a:cs typeface="Times New Roman" panose="02020603050405020304" pitchFamily="18" charset="0"/>
              </a:rPr>
              <a:t>Department of Computer Science and Engineering</a:t>
            </a:r>
          </a:p>
          <a:p>
            <a:pPr marL="3175" algn="ctr" eaLnBrk="1" hangingPunct="1">
              <a:lnSpc>
                <a:spcPts val="3565"/>
              </a:lnSpc>
              <a:buNone/>
            </a:pPr>
            <a:r>
              <a:rPr lang="zh-CN" altLang="x-none" sz="3400">
                <a:solidFill>
                  <a:srgbClr val="FF0000"/>
                </a:solidFill>
                <a:latin typeface="Times New Roman" panose="02020603050405020304" pitchFamily="18" charset="0"/>
                <a:cs typeface="Times New Roman" panose="02020603050405020304" pitchFamily="18" charset="0"/>
              </a:rPr>
              <a:t>Srinivasa Ramanujan Institute of Technology</a:t>
            </a:r>
            <a:endParaRPr lang="zh-CN" altLang="x-none" sz="3400">
              <a:solidFill>
                <a:srgbClr val="000000"/>
              </a:solidFill>
              <a:latin typeface="Times New Roman" panose="02020603050405020304" pitchFamily="18" charset="0"/>
              <a:cs typeface="Times New Roman" panose="02020603050405020304" pitchFamily="18" charset="0"/>
            </a:endParaRPr>
          </a:p>
          <a:p>
            <a:pPr marL="3175" algn="ctr" eaLnBrk="1" hangingPunct="1">
              <a:lnSpc>
                <a:spcPts val="1850"/>
              </a:lnSpc>
              <a:buNone/>
            </a:pPr>
            <a:r>
              <a:rPr lang="zh-CN" altLang="x-none" sz="1700" b="1">
                <a:solidFill>
                  <a:srgbClr val="000000"/>
                </a:solidFill>
                <a:latin typeface="Times New Roman" panose="02020603050405020304" pitchFamily="18" charset="0"/>
                <a:cs typeface="Times New Roman" panose="02020603050405020304" pitchFamily="18" charset="0"/>
              </a:rPr>
              <a:t>Autonomous</a:t>
            </a:r>
            <a:endParaRPr lang="zh-CN" altLang="x-none" sz="1700">
              <a:solidFill>
                <a:srgbClr val="000000"/>
              </a:solidFill>
              <a:latin typeface="Times New Roman" panose="02020603050405020304" pitchFamily="18" charset="0"/>
              <a:cs typeface="Times New Roman" panose="02020603050405020304" pitchFamily="18" charset="0"/>
            </a:endParaRPr>
          </a:p>
          <a:p>
            <a:pPr marL="3175" algn="ctr" eaLnBrk="1" hangingPunct="1">
              <a:lnSpc>
                <a:spcPts val="1375"/>
              </a:lnSpc>
              <a:buNone/>
            </a:pPr>
            <a:r>
              <a:rPr lang="zh-CN" altLang="x-none" sz="1200" b="1">
                <a:solidFill>
                  <a:srgbClr val="000000"/>
                </a:solidFill>
                <a:latin typeface="Times New Roman" panose="02020603050405020304" pitchFamily="18" charset="0"/>
                <a:cs typeface="Times New Roman" panose="02020603050405020304" pitchFamily="18" charset="0"/>
              </a:rPr>
              <a:t>Rotarypuram Village, B K Samudram Mandal, Ananthapuramu – 515701.</a:t>
            </a:r>
            <a:endParaRPr lang="zh-CN" altLang="x-none" sz="1200">
              <a:solidFill>
                <a:srgbClr val="000000"/>
              </a:solidFill>
              <a:latin typeface="Times New Roman" panose="02020603050405020304" pitchFamily="18" charset="0"/>
              <a:cs typeface="Times New Roman" panose="02020603050405020304" pitchFamily="18" charset="0"/>
            </a:endParaRPr>
          </a:p>
          <a:p>
            <a:pPr marL="3175" algn="ctr" eaLnBrk="1" hangingPunct="1">
              <a:spcBef>
                <a:spcPts val="550"/>
              </a:spcBef>
              <a:buNone/>
            </a:pPr>
            <a:r>
              <a:rPr lang="zh-CN" altLang="x-none" sz="1300" b="1">
                <a:solidFill>
                  <a:srgbClr val="1E4E78"/>
                </a:solidFill>
                <a:latin typeface="Times New Roman" panose="02020603050405020304" pitchFamily="18" charset="0"/>
                <a:cs typeface="Times New Roman" panose="02020603050405020304" pitchFamily="18" charset="0"/>
              </a:rPr>
              <a:t>202</a:t>
            </a:r>
            <a:r>
              <a:rPr sz="1300" b="1" dirty="0">
                <a:solidFill>
                  <a:srgbClr val="1E4E78"/>
                </a:solidFill>
                <a:latin typeface="Times New Roman" panose="02020603050405020304" pitchFamily="18" charset="0"/>
                <a:cs typeface="Times New Roman" panose="02020603050405020304" pitchFamily="18" charset="0"/>
              </a:rPr>
              <a:t>5</a:t>
            </a:r>
            <a:r>
              <a:rPr lang="zh-CN" altLang="x-none" sz="1300" b="1">
                <a:solidFill>
                  <a:srgbClr val="1E4E78"/>
                </a:solidFill>
                <a:latin typeface="Times New Roman" panose="02020603050405020304" pitchFamily="18" charset="0"/>
                <a:cs typeface="Times New Roman" panose="02020603050405020304" pitchFamily="18" charset="0"/>
              </a:rPr>
              <a:t>-202</a:t>
            </a:r>
            <a:r>
              <a:rPr sz="1300" b="1" dirty="0">
                <a:solidFill>
                  <a:srgbClr val="1E4E78"/>
                </a:solidFill>
                <a:latin typeface="Times New Roman" panose="02020603050405020304" pitchFamily="18" charset="0"/>
                <a:cs typeface="Times New Roman" panose="02020603050405020304" pitchFamily="18" charset="0"/>
              </a:rPr>
              <a:t>6</a:t>
            </a:r>
            <a:endParaRPr lang="zh-CN" altLang="x-none" sz="1300">
              <a:solidFill>
                <a:srgbClr val="000000"/>
              </a:solidFill>
              <a:latin typeface="Times New Roman" panose="02020603050405020304" pitchFamily="18" charset="0"/>
              <a:ea typeface="Times New Roman" panose="02020603050405020304" pitchFamily="18" charset="0"/>
            </a:endParaRPr>
          </a:p>
        </p:txBody>
      </p:sp>
      <p:sp>
        <p:nvSpPr>
          <p:cNvPr id="11" name="object 11"/>
          <p:cNvSpPr txBox="1"/>
          <p:nvPr/>
        </p:nvSpPr>
        <p:spPr>
          <a:xfrm>
            <a:off x="5394325" y="1724025"/>
            <a:ext cx="2333625" cy="465138"/>
          </a:xfrm>
          <a:prstGeom prst="rect">
            <a:avLst/>
          </a:prstGeom>
        </p:spPr>
        <p:txBody>
          <a:bodyPr lIns="0" tIns="14605" rIns="0" bIns="0">
            <a:spAutoFit/>
          </a:bodyPr>
          <a:lstStyle/>
          <a:p>
            <a:pPr algn="ctr" eaLnBrk="1" hangingPunct="1">
              <a:lnSpc>
                <a:spcPts val="2375"/>
              </a:lnSpc>
              <a:spcBef>
                <a:spcPts val="115"/>
              </a:spcBef>
              <a:buNone/>
            </a:pPr>
            <a:r>
              <a:rPr sz="2000" dirty="0">
                <a:solidFill>
                  <a:srgbClr val="000000"/>
                </a:solidFill>
                <a:latin typeface="Times New Roman" panose="02020603050405020304" pitchFamily="18" charset="0"/>
                <a:cs typeface="Times New Roman" panose="02020603050405020304" pitchFamily="18" charset="0"/>
              </a:rPr>
              <a:t>Sharath Kumar M</a:t>
            </a:r>
            <a:endParaRPr lang="zh-CN" altLang="x-none" sz="2000">
              <a:solidFill>
                <a:srgbClr val="000000"/>
              </a:solidFill>
              <a:latin typeface="Times New Roman" panose="02020603050405020304" pitchFamily="18" charset="0"/>
              <a:cs typeface="Times New Roman" panose="02020603050405020304" pitchFamily="18" charset="0"/>
            </a:endParaRPr>
          </a:p>
          <a:p>
            <a:pPr algn="ctr" eaLnBrk="1" hangingPunct="1">
              <a:lnSpc>
                <a:spcPts val="1065"/>
              </a:lnSpc>
              <a:buNone/>
            </a:pPr>
            <a:r>
              <a:rPr lang="zh-CN" altLang="x-none" sz="900">
                <a:solidFill>
                  <a:srgbClr val="000000"/>
                </a:solidFill>
                <a:latin typeface="Times New Roman" panose="02020603050405020304" pitchFamily="18" charset="0"/>
                <a:cs typeface="Times New Roman" panose="02020603050405020304" pitchFamily="18" charset="0"/>
              </a:rPr>
              <a:t>Roll No. </a:t>
            </a:r>
            <a:r>
              <a:rPr sz="900" dirty="0">
                <a:solidFill>
                  <a:srgbClr val="000000"/>
                </a:solidFill>
                <a:latin typeface="Times New Roman" panose="02020603050405020304" pitchFamily="18" charset="0"/>
                <a:cs typeface="Times New Roman" panose="02020603050405020304" pitchFamily="18" charset="0"/>
              </a:rPr>
              <a:t>22</a:t>
            </a:r>
            <a:r>
              <a:rPr lang="zh-CN" altLang="x-none" sz="900">
                <a:solidFill>
                  <a:srgbClr val="000000"/>
                </a:solidFill>
                <a:latin typeface="Times New Roman" panose="02020603050405020304" pitchFamily="18" charset="0"/>
                <a:cs typeface="Times New Roman" panose="02020603050405020304" pitchFamily="18" charset="0"/>
              </a:rPr>
              <a:t>4G1A05</a:t>
            </a:r>
            <a:r>
              <a:rPr sz="900" dirty="0">
                <a:solidFill>
                  <a:srgbClr val="000000"/>
                </a:solidFill>
                <a:latin typeface="Times New Roman" panose="02020603050405020304" pitchFamily="18" charset="0"/>
                <a:cs typeface="Times New Roman" panose="02020603050405020304" pitchFamily="18" charset="0"/>
              </a:rPr>
              <a:t>98</a:t>
            </a:r>
            <a:endParaRPr lang="zh-CN" altLang="x-none" sz="900">
              <a:solidFill>
                <a:srgbClr val="000000"/>
              </a:solidFill>
              <a:latin typeface="Times New Roman" panose="02020603050405020304" pitchFamily="18" charset="0"/>
              <a:ea typeface="Times New Roman" panose="02020603050405020304" pitchFamily="18" charset="0"/>
            </a:endParaRPr>
          </a:p>
        </p:txBody>
      </p:sp>
      <p:sp>
        <p:nvSpPr>
          <p:cNvPr id="13" name="object 13"/>
          <p:cNvSpPr txBox="1"/>
          <p:nvPr/>
        </p:nvSpPr>
        <p:spPr>
          <a:xfrm>
            <a:off x="3429000" y="1658938"/>
            <a:ext cx="2170113" cy="563563"/>
          </a:xfrm>
          <a:prstGeom prst="rect">
            <a:avLst/>
          </a:prstGeom>
        </p:spPr>
        <p:txBody>
          <a:bodyPr lIns="0" tIns="13335" rIns="0" bIns="0">
            <a:spAutoFit/>
          </a:bodyPr>
          <a:lstStyle/>
          <a:p>
            <a:pPr algn="ctr" eaLnBrk="1" hangingPunct="1">
              <a:spcBef>
                <a:spcPts val="100"/>
              </a:spcBef>
              <a:buNone/>
            </a:pPr>
            <a:r>
              <a:rPr sz="2400" dirty="0">
                <a:solidFill>
                  <a:srgbClr val="000000"/>
                </a:solidFill>
                <a:latin typeface="Times New Roman" panose="02020603050405020304" pitchFamily="18" charset="0"/>
                <a:cs typeface="Times New Roman" panose="02020603050405020304" pitchFamily="18" charset="0"/>
              </a:rPr>
              <a:t>Sharath V</a:t>
            </a:r>
            <a:endParaRPr lang="zh-CN" altLang="x-none" sz="2400">
              <a:solidFill>
                <a:srgbClr val="000000"/>
              </a:solidFill>
              <a:latin typeface="Times New Roman" panose="02020603050405020304" pitchFamily="18" charset="0"/>
              <a:cs typeface="Times New Roman" panose="02020603050405020304" pitchFamily="18" charset="0"/>
            </a:endParaRPr>
          </a:p>
          <a:p>
            <a:pPr algn="ctr" eaLnBrk="1" hangingPunct="1">
              <a:spcBef>
                <a:spcPts val="40"/>
              </a:spcBef>
              <a:buNone/>
            </a:pPr>
            <a:r>
              <a:rPr lang="zh-CN" altLang="x-none" sz="1100">
                <a:solidFill>
                  <a:srgbClr val="000000"/>
                </a:solidFill>
                <a:latin typeface="Times New Roman" panose="02020603050405020304" pitchFamily="18" charset="0"/>
                <a:cs typeface="Times New Roman" panose="02020603050405020304" pitchFamily="18" charset="0"/>
              </a:rPr>
              <a:t>Roll No. 2</a:t>
            </a:r>
            <a:r>
              <a:rPr sz="1100" dirty="0">
                <a:solidFill>
                  <a:srgbClr val="000000"/>
                </a:solidFill>
                <a:latin typeface="Times New Roman" panose="02020603050405020304" pitchFamily="18" charset="0"/>
                <a:cs typeface="Times New Roman" panose="02020603050405020304" pitchFamily="18" charset="0"/>
              </a:rPr>
              <a:t>2</a:t>
            </a:r>
            <a:r>
              <a:rPr lang="zh-CN" altLang="x-none" sz="1100">
                <a:solidFill>
                  <a:srgbClr val="000000"/>
                </a:solidFill>
                <a:latin typeface="Times New Roman" panose="02020603050405020304" pitchFamily="18" charset="0"/>
                <a:cs typeface="Times New Roman" panose="02020603050405020304" pitchFamily="18" charset="0"/>
              </a:rPr>
              <a:t>4G1A05</a:t>
            </a:r>
            <a:r>
              <a:rPr sz="1100" dirty="0">
                <a:solidFill>
                  <a:srgbClr val="000000"/>
                </a:solidFill>
                <a:latin typeface="Times New Roman" panose="02020603050405020304" pitchFamily="18" charset="0"/>
                <a:cs typeface="Times New Roman" panose="02020603050405020304" pitchFamily="18" charset="0"/>
              </a:rPr>
              <a:t>99</a:t>
            </a:r>
            <a:endParaRPr lang="zh-CN" altLang="x-none" sz="1100">
              <a:solidFill>
                <a:srgbClr val="000000"/>
              </a:solidFill>
              <a:latin typeface="Times New Roman" panose="02020603050405020304" pitchFamily="18" charset="0"/>
              <a:ea typeface="Times New Roman" panose="02020603050405020304" pitchFamily="18" charset="0"/>
            </a:endParaRPr>
          </a:p>
        </p:txBody>
      </p:sp>
      <p:grpSp>
        <p:nvGrpSpPr>
          <p:cNvPr id="6154" name="object 14"/>
          <p:cNvGrpSpPr/>
          <p:nvPr/>
        </p:nvGrpSpPr>
        <p:grpSpPr>
          <a:xfrm>
            <a:off x="714375" y="317500"/>
            <a:ext cx="10609263" cy="938213"/>
            <a:chOff x="715009" y="318271"/>
            <a:chExt cx="10608310" cy="937894"/>
          </a:xfrm>
        </p:grpSpPr>
        <p:pic>
          <p:nvPicPr>
            <p:cNvPr id="6158" name="object 15"/>
            <p:cNvPicPr>
              <a:picLocks noChangeAspect="1"/>
            </p:cNvPicPr>
            <p:nvPr/>
          </p:nvPicPr>
          <p:blipFill>
            <a:blip r:embed="rId2"/>
            <a:stretch>
              <a:fillRect/>
            </a:stretch>
          </p:blipFill>
          <p:spPr>
            <a:xfrm>
              <a:off x="715009" y="318271"/>
              <a:ext cx="10608182" cy="937864"/>
            </a:xfrm>
            <a:prstGeom prst="rect">
              <a:avLst/>
            </a:prstGeom>
            <a:noFill/>
            <a:ln w="9525">
              <a:noFill/>
            </a:ln>
          </p:spPr>
        </p:pic>
        <p:sp>
          <p:nvSpPr>
            <p:cNvPr id="6159" name="object 16"/>
            <p:cNvSpPr/>
            <p:nvPr/>
          </p:nvSpPr>
          <p:spPr>
            <a:xfrm>
              <a:off x="755008" y="335270"/>
              <a:ext cx="10528300" cy="857885"/>
            </a:xfrm>
            <a:custGeom>
              <a:avLst/>
              <a:gdLst/>
              <a:ahLst/>
              <a:cxnLst>
                <a:cxn ang="0">
                  <a:pos x="10385202" y="857863"/>
                </a:cxn>
                <a:cxn ang="0">
                  <a:pos x="142980" y="857863"/>
                </a:cxn>
                <a:cxn ang="0">
                  <a:pos x="97787" y="850574"/>
                </a:cxn>
                <a:cxn ang="0">
                  <a:pos x="58537" y="830277"/>
                </a:cxn>
                <a:cxn ang="0">
                  <a:pos x="27586" y="799326"/>
                </a:cxn>
                <a:cxn ang="0">
                  <a:pos x="7289" y="760076"/>
                </a:cxn>
                <a:cxn ang="0">
                  <a:pos x="0" y="714883"/>
                </a:cxn>
                <a:cxn ang="0">
                  <a:pos x="0" y="142980"/>
                </a:cxn>
                <a:cxn ang="0">
                  <a:pos x="7289" y="97787"/>
                </a:cxn>
                <a:cxn ang="0">
                  <a:pos x="27586" y="58537"/>
                </a:cxn>
                <a:cxn ang="0">
                  <a:pos x="58537" y="27586"/>
                </a:cxn>
                <a:cxn ang="0">
                  <a:pos x="97787" y="7289"/>
                </a:cxn>
                <a:cxn ang="0">
                  <a:pos x="142980" y="0"/>
                </a:cxn>
                <a:cxn ang="0">
                  <a:pos x="10385202" y="0"/>
                </a:cxn>
                <a:cxn ang="0">
                  <a:pos x="10439918" y="10883"/>
                </a:cxn>
                <a:cxn ang="0">
                  <a:pos x="10486304" y="41877"/>
                </a:cxn>
                <a:cxn ang="0">
                  <a:pos x="10517299" y="88264"/>
                </a:cxn>
                <a:cxn ang="0">
                  <a:pos x="10528183" y="142980"/>
                </a:cxn>
                <a:cxn ang="0">
                  <a:pos x="10528183" y="714883"/>
                </a:cxn>
                <a:cxn ang="0">
                  <a:pos x="10520894" y="760076"/>
                </a:cxn>
                <a:cxn ang="0">
                  <a:pos x="10500596" y="799326"/>
                </a:cxn>
                <a:cxn ang="0">
                  <a:pos x="10469645" y="830277"/>
                </a:cxn>
                <a:cxn ang="0">
                  <a:pos x="10430395" y="850574"/>
                </a:cxn>
                <a:cxn ang="0">
                  <a:pos x="10385202" y="857863"/>
                </a:cxn>
              </a:cxnLst>
              <a:rect l="0" t="0" r="0" b="0"/>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alpha val="100000"/>
              </a:srgbClr>
            </a:solidFill>
            <a:ln w="9525">
              <a:noFill/>
            </a:ln>
          </p:spPr>
          <p:txBody>
            <a:bodyPr/>
            <a:lstStyle/>
            <a:p>
              <a:endParaRPr lang="en-US"/>
            </a:p>
          </p:txBody>
        </p:sp>
      </p:grpSp>
      <p:sp>
        <p:nvSpPr>
          <p:cNvPr id="6155" name="object 17"/>
          <p:cNvSpPr>
            <a:spLocks noGrp="1"/>
          </p:cNvSpPr>
          <p:nvPr>
            <p:ph type="title"/>
          </p:nvPr>
        </p:nvSpPr>
        <p:spPr>
          <a:xfrm>
            <a:off x="908050" y="492125"/>
            <a:ext cx="10140950" cy="504825"/>
          </a:xfrm>
          <a:ln/>
        </p:spPr>
        <p:txBody>
          <a:bodyPr vert="horz" wrap="square" lIns="0" tIns="12700" rIns="0" bIns="0" anchor="t" anchorCtr="0">
            <a:spAutoFit/>
          </a:bodyPr>
          <a:lstStyle/>
          <a:p>
            <a:pPr marL="12700" indent="0" eaLnBrk="1" hangingPunct="1">
              <a:spcBef>
                <a:spcPts val="100"/>
              </a:spcBef>
            </a:pPr>
            <a:r>
              <a:rPr lang="en-US" altLang="en-US" sz="3200" dirty="0">
                <a:latin typeface="Times New Roman" panose="02020603050405020304" pitchFamily="18" charset="0"/>
                <a:ea typeface="+mj-ea"/>
                <a:cs typeface="Times New Roman" panose="02020603050405020304" pitchFamily="18" charset="0"/>
              </a:rPr>
              <a:t>ECOVISION:Deep Learning Model for Seasonal Detection</a:t>
            </a:r>
            <a:endParaRPr lang="en-US" altLang="en-US" sz="3200" dirty="0">
              <a:latin typeface="Times New Roman" panose="02020603050405020304" pitchFamily="18" charset="0"/>
              <a:ea typeface="Times New Roman" panose="02020603050405020304" pitchFamily="18" charset="0"/>
              <a:cs typeface="+mj-cs"/>
            </a:endParaRPr>
          </a:p>
        </p:txBody>
      </p:sp>
      <p:sp>
        <p:nvSpPr>
          <p:cNvPr id="18" name="object 18"/>
          <p:cNvSpPr txBox="1"/>
          <p:nvPr/>
        </p:nvSpPr>
        <p:spPr>
          <a:xfrm>
            <a:off x="5988050" y="1279525"/>
            <a:ext cx="215900" cy="268288"/>
          </a:xfrm>
          <a:prstGeom prst="rect">
            <a:avLst/>
          </a:prstGeom>
        </p:spPr>
        <p:txBody>
          <a:bodyPr lIns="0" tIns="12700" rIns="0" bIns="0">
            <a:spAutoFit/>
          </a:bodyPr>
          <a:lstStyle/>
          <a:p>
            <a:pPr marL="12700" marR="0" defTabSz="914400" eaLnBrk="1" fontAlgn="auto" hangingPunct="1">
              <a:spcBef>
                <a:spcPts val="100"/>
              </a:spcBef>
              <a:spcAft>
                <a:spcPts val="0"/>
              </a:spcAft>
              <a:buClrTx/>
              <a:buSzTx/>
              <a:buFontTx/>
              <a:buNone/>
              <a:defRPr/>
            </a:pPr>
            <a:r>
              <a:rPr kumimoji="0" sz="1600" i="1" kern="0" cap="none" spc="-25" normalizeH="0" baseline="0" noProof="0" dirty="0">
                <a:solidFill>
                  <a:sysClr val="windowText" lastClr="000000"/>
                </a:solidFill>
                <a:latin typeface="Times New Roman" panose="02020603050405020304"/>
                <a:ea typeface="+mn-ea"/>
                <a:cs typeface="Times New Roman" panose="02020603050405020304"/>
              </a:rPr>
              <a:t>by</a:t>
            </a:r>
            <a:endParaRPr kumimoji="0" sz="1600" kern="0" cap="none" spc="0" normalizeH="0" baseline="0" noProof="0">
              <a:solidFill>
                <a:sysClr val="windowText" lastClr="000000"/>
              </a:solidFill>
              <a:latin typeface="Times New Roman" panose="02020603050405020304"/>
              <a:ea typeface="+mn-ea"/>
              <a:cs typeface="Times New Roman" panose="02020603050405020304"/>
            </a:endParaRPr>
          </a:p>
        </p:txBody>
      </p:sp>
      <p:pic>
        <p:nvPicPr>
          <p:cNvPr id="6157" name="object 19"/>
          <p:cNvPicPr>
            <a:picLocks noChangeAspect="1"/>
          </p:cNvPicPr>
          <p:nvPr/>
        </p:nvPicPr>
        <p:blipFill>
          <a:blip r:embed="rId3"/>
          <a:stretch>
            <a:fillRect/>
          </a:stretch>
        </p:blipFill>
        <p:spPr>
          <a:xfrm>
            <a:off x="5329238" y="3351213"/>
            <a:ext cx="1527175" cy="16859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bject 2"/>
          <p:cNvSpPr txBox="1"/>
          <p:nvPr/>
        </p:nvSpPr>
        <p:spPr>
          <a:xfrm>
            <a:off x="3935413" y="-33337"/>
            <a:ext cx="4876800" cy="242887"/>
          </a:xfrm>
          <a:prstGeom prst="rect">
            <a:avLst/>
          </a:prstGeom>
          <a:noFill/>
          <a:ln w="9525">
            <a:noFill/>
          </a:ln>
        </p:spPr>
        <p:txBody>
          <a:bodyPr lIns="0" tIns="12700" rIns="0" bIns="0">
            <a:spAutoFit/>
          </a:bodyPr>
          <a:lstStyle/>
          <a:p>
            <a:pPr marL="12700" eaLnBrk="1" hangingPunct="1">
              <a:spcBef>
                <a:spcPts val="100"/>
              </a:spcBef>
            </a:pPr>
            <a:r>
              <a:rPr lang="en-US" altLang="en-US" sz="1500" b="1" i="1" dirty="0">
                <a:solidFill>
                  <a:srgbClr val="FFFFFF"/>
                </a:solidFill>
                <a:latin typeface="Times New Roman" panose="02020603050405020304" pitchFamily="18" charset="0"/>
                <a:cs typeface="Times New Roman" panose="02020603050405020304" pitchFamily="18" charset="0"/>
              </a:rPr>
              <a:t>ECOVISION:Deep Learning model for Seasonal Detection </a:t>
            </a:r>
            <a:endParaRPr lang="en-US" altLang="en-US" sz="1500" dirty="0">
              <a:solidFill>
                <a:srgbClr val="000000"/>
              </a:solidFill>
              <a:latin typeface="Times New Roman" panose="02020603050405020304" pitchFamily="18" charset="0"/>
              <a:ea typeface="Times New Roman" panose="02020603050405020304" pitchFamily="18" charset="0"/>
            </a:endParaRPr>
          </a:p>
        </p:txBody>
      </p:sp>
      <p:grpSp>
        <p:nvGrpSpPr>
          <p:cNvPr id="7171" name="object 3"/>
          <p:cNvGrpSpPr/>
          <p:nvPr/>
        </p:nvGrpSpPr>
        <p:grpSpPr>
          <a:xfrm>
            <a:off x="0" y="225425"/>
            <a:ext cx="12192000" cy="803275"/>
            <a:chOff x="0" y="212399"/>
            <a:chExt cx="12192000" cy="803275"/>
          </a:xfrm>
        </p:grpSpPr>
        <p:pic>
          <p:nvPicPr>
            <p:cNvPr id="7178" name="object 4"/>
            <p:cNvPicPr>
              <a:picLocks noChangeAspect="1"/>
            </p:cNvPicPr>
            <p:nvPr/>
          </p:nvPicPr>
          <p:blipFill>
            <a:blip r:embed="rId2"/>
            <a:stretch>
              <a:fillRect/>
            </a:stretch>
          </p:blipFill>
          <p:spPr>
            <a:xfrm>
              <a:off x="0" y="212399"/>
              <a:ext cx="12192000" cy="803160"/>
            </a:xfrm>
            <a:prstGeom prst="rect">
              <a:avLst/>
            </a:prstGeom>
            <a:noFill/>
            <a:ln w="9525">
              <a:noFill/>
            </a:ln>
          </p:spPr>
        </p:pic>
        <p:sp>
          <p:nvSpPr>
            <p:cNvPr id="7179" name="object 5"/>
            <p:cNvSpPr/>
            <p:nvPr/>
          </p:nvSpPr>
          <p:spPr>
            <a:xfrm>
              <a:off x="239" y="228599"/>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Contents</a:t>
            </a:r>
          </a:p>
        </p:txBody>
      </p:sp>
      <p:sp>
        <p:nvSpPr>
          <p:cNvPr id="8" name="object 8"/>
          <p:cNvSpPr txBox="1">
            <a:spLocks noGrp="1"/>
          </p:cNvSpPr>
          <p:nvPr>
            <p:ph type="ftr" sz="quarter" idx="3"/>
          </p:nvPr>
        </p:nvSpPr>
        <p:spPr>
          <a:xfrm>
            <a:off x="149225" y="6629400"/>
            <a:ext cx="635000" cy="230188"/>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sz="1600" dirty="0">
                <a:solidFill>
                  <a:schemeClr val="bg1"/>
                </a:solidFill>
                <a:latin typeface="Times New Roman" panose="02020603050405020304" pitchFamily="18" charset="0"/>
                <a:cs typeface="Times New Roman" panose="02020603050405020304" pitchFamily="18" charset="0"/>
              </a:rPr>
              <a:t>B-02</a:t>
            </a:r>
            <a:endParaRPr lang="zh-CN" altLang="x-none" sz="160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450975" y="6629400"/>
            <a:ext cx="4645660" cy="252095"/>
          </a:xfrm>
          <a:noFill/>
        </p:spPr>
        <p:txBody>
          <a:bodyPr vert="horz" wrap="square" lIns="0" tIns="0" rIns="0" bIns="0" rtlCol="0">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zh-CN" altLang="x-none" sz="1600" dirty="0">
                <a:solidFill>
                  <a:schemeClr val="bg1"/>
                </a:solidFill>
                <a:latin typeface="Times New Roman" panose="02020603050405020304" pitchFamily="18" charset="0"/>
                <a:cs typeface="Times New Roman" panose="02020603050405020304" pitchFamily="18" charset="0"/>
              </a:rPr>
              <a:t>DEPT. OF COMPUTER SCIENCE AND</a:t>
            </a:r>
            <a:r>
              <a:rPr sz="1600" dirty="0">
                <a:solidFill>
                  <a:schemeClr val="bg1"/>
                </a:solidFill>
                <a:latin typeface="Times New Roman" panose="02020603050405020304" pitchFamily="18" charset="0"/>
                <a:cs typeface="Times New Roman" panose="02020603050405020304" pitchFamily="18" charset="0"/>
              </a:rPr>
              <a:t> </a:t>
            </a:r>
            <a:r>
              <a:rPr lang="zh-CN" altLang="x-none" sz="1600" dirty="0">
                <a:solidFill>
                  <a:schemeClr val="bg1"/>
                </a:solidFill>
                <a:latin typeface="Times New Roman" panose="02020603050405020304" pitchFamily="18" charset="0"/>
                <a:cs typeface="Times New Roman" panose="02020603050405020304" pitchFamily="18" charset="0"/>
              </a:rPr>
              <a:t>ENGINEERING</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10" name="object 10"/>
          <p:cNvSpPr txBox="1"/>
          <p:nvPr/>
        </p:nvSpPr>
        <p:spPr>
          <a:xfrm>
            <a:off x="6716713" y="6629400"/>
            <a:ext cx="4322763" cy="230188"/>
          </a:xfrm>
          <a:prstGeom prst="rect">
            <a:avLst/>
          </a:prstGeom>
        </p:spPr>
        <p:txBody>
          <a:bodyPr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B4E1554B-BE95-4FB1-AC37-FAB416F079D9}"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2</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7" name="object 7"/>
          <p:cNvSpPr txBox="1"/>
          <p:nvPr/>
        </p:nvSpPr>
        <p:spPr>
          <a:xfrm>
            <a:off x="325438" y="990600"/>
            <a:ext cx="9459913" cy="4624388"/>
          </a:xfrm>
          <a:prstGeom prst="rect">
            <a:avLst/>
          </a:prstGeom>
        </p:spPr>
        <p:txBody>
          <a:bodyPr lIns="0" tIns="96520" rIns="0" bIns="0">
            <a:spAutoFit/>
          </a:bodyPr>
          <a:lstStyle/>
          <a:p>
            <a:pPr marL="421005" marR="0" indent="-408305" defTabSz="914400" eaLnBrk="1" fontAlgn="auto" hangingPunct="1">
              <a:spcBef>
                <a:spcPts val="760"/>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Title</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Justification</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Abstract</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Problem</a:t>
            </a:r>
            <a:r>
              <a:rPr kumimoji="0" sz="2800" kern="0" cap="none" spc="-3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statement</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Objectives</a:t>
            </a:r>
            <a:r>
              <a:rPr kumimoji="0" sz="2800" kern="0" cap="none" spc="-4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of</a:t>
            </a:r>
            <a:r>
              <a:rPr kumimoji="0" sz="2800" kern="0" cap="none" spc="-3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Project</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Literature</a:t>
            </a:r>
            <a:r>
              <a:rPr kumimoji="0" sz="2800" kern="0" cap="none" spc="-3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survey</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for</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objectives</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0"/>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Proposed</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Work</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(Methods</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to</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be</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followed</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for</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proposed</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system)</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References</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GitHub </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Link</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Queries</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bject 2"/>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8195" name="object 3"/>
          <p:cNvSpPr txBox="1"/>
          <p:nvPr/>
        </p:nvSpPr>
        <p:spPr>
          <a:xfrm>
            <a:off x="3405188" y="-22225"/>
            <a:ext cx="5688012" cy="244475"/>
          </a:xfrm>
          <a:prstGeom prst="rect">
            <a:avLst/>
          </a:prstGeom>
          <a:noFill/>
          <a:ln w="9525">
            <a:noFill/>
          </a:ln>
        </p:spPr>
        <p:txBody>
          <a:bodyPr lIns="0" tIns="12700" rIns="0" bIns="0">
            <a:spAutoFit/>
          </a:bodyPr>
          <a:lstStyle/>
          <a:p>
            <a:pPr marL="12700" eaLnBrk="1" hangingPunct="1">
              <a:spcBef>
                <a:spcPts val="100"/>
              </a:spcBef>
            </a:pPr>
            <a:r>
              <a:rPr lang="en-US" altLang="en-US" sz="1500" b="1" i="1" dirty="0">
                <a:solidFill>
                  <a:srgbClr val="FFFFFF"/>
                </a:solidFill>
                <a:latin typeface="Times New Roman" panose="02020603050405020304" pitchFamily="18" charset="0"/>
                <a:cs typeface="Times New Roman" panose="02020603050405020304" pitchFamily="18" charset="0"/>
              </a:rPr>
              <a:t>ECOVISION:Deep Learning model for Seasonal Detection </a:t>
            </a:r>
            <a:endParaRPr lang="en-US" altLang="en-US" sz="1500" dirty="0">
              <a:solidFill>
                <a:srgbClr val="000000"/>
              </a:solidFill>
              <a:latin typeface="Times New Roman" panose="02020603050405020304" pitchFamily="18" charset="0"/>
              <a:ea typeface="Times New Roman" panose="02020603050405020304" pitchFamily="18" charset="0"/>
            </a:endParaRPr>
          </a:p>
        </p:txBody>
      </p:sp>
      <p:grpSp>
        <p:nvGrpSpPr>
          <p:cNvPr id="8196" name="object 4"/>
          <p:cNvGrpSpPr/>
          <p:nvPr/>
        </p:nvGrpSpPr>
        <p:grpSpPr>
          <a:xfrm>
            <a:off x="-1587" y="241300"/>
            <a:ext cx="12192000" cy="803275"/>
            <a:chOff x="0" y="212399"/>
            <a:chExt cx="12192000" cy="803275"/>
          </a:xfrm>
        </p:grpSpPr>
        <p:pic>
          <p:nvPicPr>
            <p:cNvPr id="8203" name="object 5"/>
            <p:cNvPicPr>
              <a:picLocks noChangeAspect="1"/>
            </p:cNvPicPr>
            <p:nvPr/>
          </p:nvPicPr>
          <p:blipFill>
            <a:blip r:embed="rId3"/>
            <a:stretch>
              <a:fillRect/>
            </a:stretch>
          </p:blipFill>
          <p:spPr>
            <a:xfrm>
              <a:off x="0" y="212399"/>
              <a:ext cx="12192000" cy="803160"/>
            </a:xfrm>
            <a:prstGeom prst="rect">
              <a:avLst/>
            </a:prstGeom>
            <a:noFill/>
            <a:ln w="9525">
              <a:noFill/>
            </a:ln>
          </p:spPr>
        </p:pic>
        <p:sp>
          <p:nvSpPr>
            <p:cNvPr id="8204" name="object 6"/>
            <p:cNvSpPr/>
            <p:nvPr/>
          </p:nvSpPr>
          <p:spPr>
            <a:xfrm>
              <a:off x="239" y="228599"/>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Title</a:t>
            </a:r>
            <a:r>
              <a:rPr kumimoji="0" sz="4400" b="0" i="0" u="none" strike="noStrike" kern="0" cap="none" spc="-1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Justification</a:t>
            </a:r>
          </a:p>
        </p:txBody>
      </p:sp>
      <p:sp>
        <p:nvSpPr>
          <p:cNvPr id="2" name="Text Placeholder 1"/>
          <p:cNvSpPr>
            <a:spLocks noGrp="1"/>
          </p:cNvSpPr>
          <p:nvPr>
            <p:ph type="body" idx="1"/>
          </p:nvPr>
        </p:nvSpPr>
        <p:spPr>
          <a:xfrm>
            <a:off x="381000" y="1154430"/>
            <a:ext cx="11506200" cy="5445760"/>
          </a:xfrm>
        </p:spPr>
        <p:txBody>
          <a:bodyPr vert="horz" wrap="square" lIns="0" tIns="0" rIns="0" bIns="0" numCol="1" anchor="t" anchorCtr="0" compatLnSpc="1">
            <a:noAutofit/>
          </a:body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Project Title:</a:t>
            </a: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ECOVISION: Deep Learning model for Seasonal Detection</a:t>
            </a: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18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Justification:</a:t>
            </a:r>
          </a:p>
          <a:p>
            <a:pPr marL="285750" marR="0" lvl="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The title </a:t>
            </a: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a:t>
            </a:r>
            <a:r>
              <a:rPr kumimoji="0" lang="en-US" sz="2000" b="1" i="0" u="none" strike="noStrike" kern="0" cap="none" spc="0" normalizeH="0" baseline="0" noProof="0" dirty="0" err="1">
                <a:ln>
                  <a:noFill/>
                </a:ln>
                <a:solidFill>
                  <a:schemeClr val="tx1"/>
                </a:solidFill>
                <a:effectLst/>
                <a:uLnTx/>
                <a:uFillTx/>
                <a:latin typeface="Times New Roman" panose="02020603050405020304"/>
                <a:ea typeface="+mn-ea"/>
                <a:cs typeface="Times New Roman" panose="02020603050405020304"/>
              </a:rPr>
              <a:t>Ecovision</a:t>
            </a: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a:t>
            </a: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 represents an AI-powered system focused on understanding ecological patterns through visual intelligence.</a:t>
            </a:r>
          </a:p>
          <a:p>
            <a:pPr marL="285750" marR="0" lvl="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The word </a:t>
            </a: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“Eco”</a:t>
            </a: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 signifies ecology, environment, and natural seasonal changes.</a:t>
            </a:r>
          </a:p>
          <a:p>
            <a:pPr marL="285750" marR="0" lvl="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“Vision”</a:t>
            </a: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 reflects the deep learning and computer vision techniques used to analyze plant and tree images.</a:t>
            </a:r>
          </a:p>
          <a:p>
            <a:pPr marL="285750" marR="0" lvl="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The subtitle </a:t>
            </a: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“Deep Learning Model for Seasonal Detection”</a:t>
            </a: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 clearly describes the project’s core purpose—predicting the season by combining plant images with environmental parameters.</a:t>
            </a:r>
          </a:p>
          <a:p>
            <a:pPr marL="285750" marR="0" lvl="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The title highlights both the </a:t>
            </a: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domain</a:t>
            </a: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 (ecology and seasons) and the </a:t>
            </a: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technology</a:t>
            </a: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 (deep learning + multimodal inputs).</a:t>
            </a:r>
          </a:p>
          <a:p>
            <a:pPr marL="285750" marR="0" lvl="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It conveys innovation, environmental relevance, and the integration of AI for real-world ecological and agricultural applications.</a:t>
            </a: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IN"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p:txBody>
      </p:sp>
      <p:sp>
        <p:nvSpPr>
          <p:cNvPr id="8" name="object 8"/>
          <p:cNvSpPr txBox="1">
            <a:spLocks noGrp="1"/>
          </p:cNvSpPr>
          <p:nvPr>
            <p:ph type="ftr" sz="quarter" idx="3"/>
          </p:nvPr>
        </p:nvSpPr>
        <p:spPr>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sz="1600" dirty="0">
                <a:solidFill>
                  <a:schemeClr val="bg1"/>
                </a:solidFill>
                <a:latin typeface="Times New Roman" panose="02020603050405020304" pitchFamily="18" charset="0"/>
                <a:cs typeface="Times New Roman" panose="02020603050405020304" pitchFamily="18" charset="0"/>
              </a:rPr>
              <a:t>B-02</a:t>
            </a:r>
            <a:endParaRPr lang="zh-CN" altLang="x-none" sz="160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3941763"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4098A613-0174-4EC4-8DE5-4ED819B4EEE1}"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3</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 name="object 10"/>
          <p:cNvSpPr txBox="1"/>
          <p:nvPr/>
        </p:nvSpPr>
        <p:spPr>
          <a:xfrm>
            <a:off x="7146925" y="6629400"/>
            <a:ext cx="4646613"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3000" y="-19050"/>
            <a:ext cx="9448800" cy="487363"/>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kumimoji="0" lang="en-US" altLang="en-US" sz="1500" b="1" i="1" kern="1200" cap="none" spc="0" normalizeH="0" baseline="0" noProof="0" dirty="0" err="1">
                <a:solidFill>
                  <a:srgbClr val="FFFFFF"/>
                </a:solidFill>
                <a:latin typeface="Times New Roman" panose="02020603050405020304" pitchFamily="18" charset="0"/>
                <a:ea typeface="+mn-ea"/>
                <a:cs typeface="Times New Roman" panose="02020603050405020304" pitchFamily="18" charset="0"/>
              </a:rPr>
              <a:t>ECOVISION:Deep</a:t>
            </a:r>
            <a:r>
              <a:rPr kumimoji="0" lang="en-US" altLang="en-US" sz="1500" b="1" i="1" kern="1200" cap="none" spc="0" normalizeH="0" baseline="0" noProof="0" dirty="0">
                <a:solidFill>
                  <a:srgbClr val="FFFFFF"/>
                </a:solidFill>
                <a:latin typeface="Times New Roman" panose="02020603050405020304" pitchFamily="18" charset="0"/>
                <a:ea typeface="+mn-ea"/>
                <a:cs typeface="Times New Roman" panose="02020603050405020304" pitchFamily="18" charset="0"/>
              </a:rPr>
              <a:t> Learning model for Seasonal Detection </a:t>
            </a:r>
            <a:endParaRPr kumimoji="0" lang="en-US" altLang="en-US" sz="1500" kern="1200" cap="none" spc="0" normalizeH="0" baseline="0" noProof="0" dirty="0">
              <a:solidFill>
                <a:srgbClr val="000000"/>
              </a:solidFill>
              <a:latin typeface="Times New Roman" panose="02020603050405020304" pitchFamily="18" charset="0"/>
              <a:ea typeface="+mn-ea"/>
              <a:cs typeface="Times New Roman" panose="02020603050405020304" pitchFamily="18" charset="0"/>
            </a:endParaRPr>
          </a:p>
          <a:p>
            <a:pPr marL="12700" marR="0" defTabSz="914400" eaLnBrk="1" fontAlgn="auto" hangingPunct="1">
              <a:spcBef>
                <a:spcPts val="100"/>
              </a:spcBef>
              <a:spcAft>
                <a:spcPts val="0"/>
              </a:spcAft>
              <a:buClrTx/>
              <a:buSzTx/>
              <a:buFontTx/>
              <a:buNone/>
              <a:defRPr/>
            </a:pPr>
            <a:r>
              <a:rPr kumimoji="0" sz="1500" b="1" i="1" kern="0" cap="none" spc="0" normalizeH="0" baseline="0" noProof="0" dirty="0">
                <a:solidFill>
                  <a:srgbClr val="FFFFFF"/>
                </a:solidFill>
                <a:latin typeface="Times New Roman" panose="02020603050405020304"/>
                <a:ea typeface="+mn-ea"/>
                <a:cs typeface="Times New Roman" panose="02020603050405020304"/>
              </a:rPr>
              <a:t>he</a:t>
            </a:r>
            <a:r>
              <a:rPr kumimoji="0" sz="1500" b="1" i="1" kern="0" cap="none" spc="-20" normalizeH="0" baseline="0" noProof="0" dirty="0">
                <a:solidFill>
                  <a:srgbClr val="FFFFFF"/>
                </a:solidFill>
                <a:latin typeface="Times New Roman" panose="02020603050405020304"/>
                <a:ea typeface="+mn-ea"/>
                <a:cs typeface="Times New Roman" panose="02020603050405020304"/>
              </a:rPr>
              <a:t> </a:t>
            </a:r>
            <a:r>
              <a:rPr kumimoji="0" sz="1500" b="1" i="1" kern="0" cap="none" spc="-10" normalizeH="0" baseline="0" noProof="0" dirty="0">
                <a:solidFill>
                  <a:srgbClr val="FFFFFF"/>
                </a:solidFill>
                <a:latin typeface="Times New Roman" panose="02020603050405020304"/>
                <a:ea typeface="+mn-ea"/>
                <a:cs typeface="Times New Roman" panose="02020603050405020304"/>
              </a:rPr>
              <a:t>Project</a:t>
            </a:r>
            <a:endParaRPr kumimoji="0" sz="15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0243" name="object 3"/>
          <p:cNvGrpSpPr/>
          <p:nvPr/>
        </p:nvGrpSpPr>
        <p:grpSpPr>
          <a:xfrm>
            <a:off x="-11112" y="209550"/>
            <a:ext cx="12192000" cy="803275"/>
            <a:chOff x="0" y="216720"/>
            <a:chExt cx="12192000" cy="803275"/>
          </a:xfrm>
        </p:grpSpPr>
        <p:pic>
          <p:nvPicPr>
            <p:cNvPr id="10250"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0251"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149225" y="227013"/>
            <a:ext cx="5286375" cy="714375"/>
          </a:xfrm>
        </p:spPr>
        <p:txBody>
          <a:bodyPr vert="horz" wrap="square" lIns="0" tIns="12700" rIns="0" bIns="0" numCol="1" rtlCol="0" anchor="t" anchorCtr="0" compatLnSpc="1">
            <a:spAutoFit/>
          </a:bodyPr>
          <a:lstStyle/>
          <a:p>
            <a:pPr marL="12700" indent="0" algn="l" eaLnBrk="1" hangingPunct="1">
              <a:spcBef>
                <a:spcPts val="100"/>
              </a:spcBef>
              <a:buNone/>
            </a:pPr>
            <a:r>
              <a:rPr lang="zh-CN" altLang="x-none">
                <a:latin typeface="Times New Roman" panose="02020603050405020304" pitchFamily="18" charset="0"/>
                <a:ea typeface="+mj-ea"/>
                <a:cs typeface="Times New Roman" panose="02020603050405020304" pitchFamily="18" charset="0"/>
              </a:rPr>
              <a:t>Ab</a:t>
            </a:r>
            <a:r>
              <a:rPr dirty="0">
                <a:latin typeface="Times New Roman" panose="02020603050405020304" pitchFamily="18" charset="0"/>
                <a:ea typeface="+mj-ea"/>
                <a:cs typeface="Times New Roman" panose="02020603050405020304" pitchFamily="18" charset="0"/>
              </a:rPr>
              <a:t>stract</a:t>
            </a:r>
            <a:endParaRPr lang="zh-CN" altLang="x-none">
              <a:latin typeface="Times New Roman" panose="02020603050405020304" pitchFamily="18" charset="0"/>
              <a:ea typeface="Times New Roman" panose="02020603050405020304" pitchFamily="18" charset="0"/>
              <a:cs typeface="+mj-cs"/>
            </a:endParaRPr>
          </a:p>
        </p:txBody>
      </p:sp>
      <p:sp>
        <p:nvSpPr>
          <p:cNvPr id="8" name="object 8"/>
          <p:cNvSpPr txBox="1">
            <a:spLocks noGrp="1"/>
          </p:cNvSpPr>
          <p:nvPr>
            <p:ph type="ftr" sz="quarter" idx="3"/>
          </p:nvPr>
        </p:nvSpPr>
        <p:spPr>
          <a:xfrm>
            <a:off x="149225" y="6629400"/>
            <a:ext cx="635000" cy="230188"/>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sz="1600" dirty="0">
                <a:solidFill>
                  <a:schemeClr val="bg1"/>
                </a:solidFill>
                <a:latin typeface="Times New Roman" panose="02020603050405020304" pitchFamily="18" charset="0"/>
                <a:cs typeface="Times New Roman" panose="02020603050405020304" pitchFamily="18" charset="0"/>
              </a:rPr>
              <a:t>B-02</a:t>
            </a:r>
            <a:endParaRPr lang="zh-CN" altLang="x-none" sz="160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941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9FA05D3A-FAB8-4230-8787-D02FF258F4AA}"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4</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249" name="object 7"/>
          <p:cNvSpPr txBox="1"/>
          <p:nvPr/>
        </p:nvSpPr>
        <p:spPr>
          <a:xfrm>
            <a:off x="273050" y="990600"/>
            <a:ext cx="11623675" cy="5570855"/>
          </a:xfrm>
          <a:prstGeom prst="rect">
            <a:avLst/>
          </a:prstGeom>
          <a:noFill/>
          <a:ln w="9525">
            <a:noFill/>
          </a:ln>
        </p:spPr>
        <p:txBody>
          <a:bodyPr lIns="0" tIns="12065" rIns="0" bIns="0">
            <a:noAutofit/>
          </a:bodyPr>
          <a:lstStyle/>
          <a:p>
            <a:pPr marL="355600" indent="-342900" eaLnBrk="1" hangingPunct="1">
              <a:lnSpc>
                <a:spcPct val="120000"/>
              </a:lnSpc>
              <a:spcBef>
                <a:spcPts val="100"/>
              </a:spcBef>
              <a:buFont typeface="Arial" panose="020B0604020202020204" pitchFamily="34" charset="0"/>
              <a:buChar char="•"/>
            </a:pPr>
            <a:r>
              <a:rPr sz="2000" dirty="0">
                <a:latin typeface="Times New Roman" panose="02020603050405020304" pitchFamily="18" charset="0"/>
                <a:cs typeface="Times New Roman" panose="02020603050405020304" pitchFamily="18" charset="0"/>
              </a:rPr>
              <a:t>Seasonal changes play a critical role in plant growth, agricultural planning, and environmental monitoring, yet conventional seasonal identification methods rely heavily on manual observation or isolated climatic data, leading to inconsistent results. To address this challenge, this research introduces </a:t>
            </a:r>
            <a:r>
              <a:rPr sz="2000" b="1" dirty="0">
                <a:latin typeface="Times New Roman" panose="02020603050405020304" pitchFamily="18" charset="0"/>
                <a:cs typeface="Times New Roman" panose="02020603050405020304" pitchFamily="18" charset="0"/>
              </a:rPr>
              <a:t>Ecovision</a:t>
            </a:r>
            <a:r>
              <a:rPr sz="2000" dirty="0">
                <a:latin typeface="Times New Roman" panose="02020603050405020304" pitchFamily="18" charset="0"/>
                <a:cs typeface="Times New Roman" panose="02020603050405020304" pitchFamily="18" charset="0"/>
              </a:rPr>
              <a:t>, a deep learning–based seasonal detection system that predicts the current season using a plant/tree image combined with environmental parameters such as temperature, humidity, precipitation, pressure, wind speed, soil moisture, cloud visibility, and solar radiation. The main objective of the study is to develop a multimodal AI model that integrates </a:t>
            </a:r>
            <a:r>
              <a:rPr sz="2000" b="1" dirty="0">
                <a:latin typeface="Times New Roman" panose="02020603050405020304" pitchFamily="18" charset="0"/>
                <a:cs typeface="Times New Roman" panose="02020603050405020304" pitchFamily="18" charset="0"/>
              </a:rPr>
              <a:t>Convolutional Neural Networks (CNNs)</a:t>
            </a:r>
            <a:r>
              <a:rPr sz="2000" dirty="0">
                <a:latin typeface="Times New Roman" panose="02020603050405020304" pitchFamily="18" charset="0"/>
                <a:cs typeface="Times New Roman" panose="02020603050405020304" pitchFamily="18" charset="0"/>
              </a:rPr>
              <a:t> for image feature extraction with machine learning–based processing of climatic parameters to achieve high prediction accuracy.</a:t>
            </a:r>
          </a:p>
          <a:p>
            <a:pPr marL="355600" indent="-342900" eaLnBrk="1" hangingPunct="1">
              <a:lnSpc>
                <a:spcPct val="120000"/>
              </a:lnSpc>
              <a:spcBef>
                <a:spcPts val="100"/>
              </a:spcBef>
              <a:buFont typeface="Arial" panose="020B0604020202020204" pitchFamily="34" charset="0"/>
              <a:buChar char="•"/>
            </a:pPr>
            <a:endParaRPr sz="2000" dirty="0">
              <a:latin typeface="Times New Roman" panose="02020603050405020304" pitchFamily="18" charset="0"/>
              <a:cs typeface="Times New Roman" panose="02020603050405020304" pitchFamily="18" charset="0"/>
            </a:endParaRPr>
          </a:p>
          <a:p>
            <a:pPr marL="355600" indent="-342900" eaLnBrk="1" hangingPunct="1">
              <a:lnSpc>
                <a:spcPct val="120000"/>
              </a:lnSpc>
              <a:spcBef>
                <a:spcPts val="100"/>
              </a:spcBef>
              <a:buFont typeface="Arial" panose="020B0604020202020204" pitchFamily="34" charset="0"/>
              <a:buChar char="•"/>
            </a:pPr>
            <a:r>
              <a:rPr sz="2000" dirty="0">
                <a:latin typeface="Times New Roman" panose="02020603050405020304" pitchFamily="18" charset="0"/>
                <a:cs typeface="Times New Roman" panose="02020603050405020304" pitchFamily="18" charset="0"/>
              </a:rPr>
              <a:t>The model was trained using a curated dataset linking plant phenological images with weather conditions, and the fusion of both data streams significantly improved classification performance. The results demonstrate that the hybrid model outperforms traditional single-input approaches, providing accurate and reliable seasonal predictions. This work concludes that Ecovision offers a scalable and intelligent solution for agriculture, ecological research, and climate-based decision-making, highlighting the potential of AI to enhance environmental understanding and sustainable practices.</a:t>
            </a:r>
          </a:p>
          <a:p>
            <a:pPr marL="12700" eaLnBrk="1" hangingPunct="1">
              <a:lnSpc>
                <a:spcPct val="120000"/>
              </a:lnSpc>
              <a:spcBef>
                <a:spcPts val="100"/>
              </a:spcBef>
            </a:pPr>
            <a:endParaRPr lang="en-US" altLang="en-US" sz="2000" dirty="0">
              <a:solidFill>
                <a:srgbClr val="00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0" y="-19050"/>
            <a:ext cx="7620000" cy="730250"/>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kumimoji="0" lang="en-US" altLang="en-US" sz="1500" b="1" i="1" kern="1200" cap="none" spc="0" normalizeH="0" baseline="0" noProof="0" dirty="0" err="1">
                <a:solidFill>
                  <a:srgbClr val="FFFFFF"/>
                </a:solidFill>
                <a:latin typeface="Times New Roman" panose="02020603050405020304" pitchFamily="18" charset="0"/>
                <a:ea typeface="+mn-ea"/>
                <a:cs typeface="Times New Roman" panose="02020603050405020304" pitchFamily="18" charset="0"/>
              </a:rPr>
              <a:t>ECOVISION:Deep</a:t>
            </a:r>
            <a:r>
              <a:rPr kumimoji="0" lang="en-US" altLang="en-US" sz="1500" b="1" i="1" kern="1200" cap="none" spc="0" normalizeH="0" baseline="0" noProof="0" dirty="0">
                <a:solidFill>
                  <a:srgbClr val="FFFFFF"/>
                </a:solidFill>
                <a:latin typeface="Times New Roman" panose="02020603050405020304" pitchFamily="18" charset="0"/>
                <a:ea typeface="+mn-ea"/>
                <a:cs typeface="Times New Roman" panose="02020603050405020304" pitchFamily="18" charset="0"/>
              </a:rPr>
              <a:t> Learning model for Seasonal Detection </a:t>
            </a:r>
            <a:endParaRPr kumimoji="0" lang="en-US" altLang="en-US" sz="1500" kern="1200" cap="none" spc="0" normalizeH="0" baseline="0" noProof="0" dirty="0">
              <a:solidFill>
                <a:srgbClr val="000000"/>
              </a:solidFill>
              <a:latin typeface="Times New Roman" panose="02020603050405020304" pitchFamily="18" charset="0"/>
              <a:ea typeface="+mn-ea"/>
              <a:cs typeface="Times New Roman" panose="02020603050405020304" pitchFamily="18" charset="0"/>
            </a:endParaRPr>
          </a:p>
          <a:p>
            <a:pPr marL="12700" marR="0" defTabSz="914400" eaLnBrk="1" fontAlgn="auto" hangingPunct="1">
              <a:spcBef>
                <a:spcPts val="100"/>
              </a:spcBef>
              <a:spcAft>
                <a:spcPts val="0"/>
              </a:spcAft>
              <a:buClrTx/>
              <a:buSzTx/>
              <a:buFontTx/>
              <a:buNone/>
              <a:defRPr/>
            </a:pPr>
            <a:r>
              <a:rPr kumimoji="0" lang="en-US" sz="1500" b="1" i="1" kern="0" cap="none" spc="0" normalizeH="0" baseline="0" noProof="0" dirty="0">
                <a:solidFill>
                  <a:srgbClr val="FFFFFF"/>
                </a:solidFill>
                <a:latin typeface="Times New Roman" panose="02020603050405020304"/>
                <a:ea typeface="+mn-ea"/>
                <a:cs typeface="Times New Roman" panose="02020603050405020304"/>
              </a:rPr>
              <a:t>he</a:t>
            </a:r>
            <a:r>
              <a:rPr kumimoji="0" lang="en-US" sz="1500" b="1" i="1" kern="0" cap="none" spc="-20" normalizeH="0" baseline="0" noProof="0" dirty="0">
                <a:solidFill>
                  <a:srgbClr val="FFFFFF"/>
                </a:solidFill>
                <a:latin typeface="Times New Roman" panose="02020603050405020304"/>
                <a:ea typeface="+mn-ea"/>
                <a:cs typeface="Times New Roman" panose="02020603050405020304"/>
              </a:rPr>
              <a:t> </a:t>
            </a:r>
            <a:r>
              <a:rPr kumimoji="0" lang="en-US" sz="1500" b="1" i="1" kern="0" cap="none" spc="-10" normalizeH="0" baseline="0" noProof="0" dirty="0">
                <a:solidFill>
                  <a:srgbClr val="FFFFFF"/>
                </a:solidFill>
                <a:latin typeface="Times New Roman" panose="02020603050405020304"/>
                <a:ea typeface="+mn-ea"/>
                <a:cs typeface="Times New Roman" panose="02020603050405020304"/>
              </a:rPr>
              <a:t>Project</a:t>
            </a: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endParaRPr kumimoji="0" sz="15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1267" name="object 3"/>
          <p:cNvGrpSpPr/>
          <p:nvPr/>
        </p:nvGrpSpPr>
        <p:grpSpPr>
          <a:xfrm>
            <a:off x="0" y="217488"/>
            <a:ext cx="12192000" cy="803275"/>
            <a:chOff x="0" y="216720"/>
            <a:chExt cx="12192000" cy="803275"/>
          </a:xfrm>
        </p:grpSpPr>
        <p:pic>
          <p:nvPicPr>
            <p:cNvPr id="11274"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1275"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Problem</a:t>
            </a:r>
            <a:r>
              <a:rPr kumimoji="0" sz="4400" b="0" i="0" u="none" strike="noStrike" kern="0" cap="none" spc="-18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Statement</a:t>
            </a:r>
          </a:p>
        </p:txBody>
      </p:sp>
      <p:sp>
        <p:nvSpPr>
          <p:cNvPr id="8" name="object 8"/>
          <p:cNvSpPr txBox="1">
            <a:spLocks noGrp="1"/>
          </p:cNvSpPr>
          <p:nvPr>
            <p:ph type="ftr" sz="quarter" idx="3"/>
          </p:nvPr>
        </p:nvSpPr>
        <p:spPr>
          <a:xfrm>
            <a:off x="149225" y="6629400"/>
            <a:ext cx="635000" cy="230832"/>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lang="en-US" dirty="0"/>
              <a:t>B-02</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9" name="object 9"/>
          <p:cNvSpPr txBox="1">
            <a:spLocks noGrp="1"/>
          </p:cNvSpPr>
          <p:nvPr>
            <p:ph type="dt" sz="half" idx="2"/>
          </p:nvPr>
        </p:nvSpPr>
        <p:spPr>
          <a:xfrm>
            <a:off x="1773238" y="6640033"/>
            <a:ext cx="4017963" cy="5334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2231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C9A058BF-499F-4118-9D56-70370F5F56F2}"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5</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5" name="Rectangle 3">
            <a:extLst>
              <a:ext uri="{FF2B5EF4-FFF2-40B4-BE49-F238E27FC236}">
                <a16:creationId xmlns:a16="http://schemas.microsoft.com/office/drawing/2014/main" id="{438CE19F-200D-4628-AE4E-308076CAD944}"/>
              </a:ext>
            </a:extLst>
          </p:cNvPr>
          <p:cNvSpPr>
            <a:spLocks noGrp="1" noChangeArrowheads="1"/>
          </p:cNvSpPr>
          <p:nvPr>
            <p:ph type="body" idx="1"/>
          </p:nvPr>
        </p:nvSpPr>
        <p:spPr bwMode="auto">
          <a:xfrm>
            <a:off x="236538" y="934543"/>
            <a:ext cx="11557000"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Seasonal identification is important for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agriculture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biotechnology research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monitoring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academic study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However, current methods depend mainly on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plant observation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weather reports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often lead to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 error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subjectivity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inconsistent results. This makes it difficult to correctly understand seasonal changes.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spcBef>
                <a:spcPct val="0"/>
              </a:spcBef>
              <a:buFontTx/>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Existing systems are incomplete: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image-based models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 not use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climatic factors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weather-based models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ignore important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changes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plants. Because of this, there is no single system that integrates both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plant imagery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parameters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accurate and automated seasonal detection.( </a:t>
            </a:r>
            <a:r>
              <a:rPr lang="en-US" sz="2000" i="1" dirty="0"/>
              <a:t>Limitations of MODIS-derived phenology metrics in different landscapes</a:t>
            </a:r>
            <a:r>
              <a:rPr lang="en-US" sz="2000" dirty="0"/>
              <a:t> (2018) – highlights </a:t>
            </a:r>
            <a:r>
              <a:rPr lang="en-US" sz="2000" b="1" dirty="0"/>
              <a:t>problems in image-only phenology detection</a:t>
            </a:r>
            <a:r>
              <a:rPr lang="en-US" sz="2000" dirty="0"/>
              <a:t>. </a:t>
            </a:r>
            <a:r>
              <a:rPr lang="en-US" sz="2000" dirty="0">
                <a:hlinkClick r:id="rId3"/>
              </a:rPr>
              <a:t>https://www.mdpi.com/2072-4292/10/11/1784</a:t>
            </a:r>
            <a:r>
              <a:rPr lang="en-US" sz="2400" dirty="0"/>
              <a:t>)</a:t>
            </a:r>
          </a:p>
          <a:p>
            <a:pPr lvl="0">
              <a:spcBef>
                <a:spcPct val="0"/>
              </a:spcBef>
              <a:buFontTx/>
              <a:buChar char="•"/>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gap creates challenges for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biotechnology researchers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analysts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science students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specialized areas like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foreign species analysis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sick plant research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correct seasonal context is important for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experimentation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diagnosis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Therefore, a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learning–based multimodal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combines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plant features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climatic data</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needed to provide reliable seasonal identification.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0" y="-19050"/>
            <a:ext cx="7620000" cy="730250"/>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kumimoji="0" lang="en-US" altLang="en-US" sz="1500" b="1" i="1" kern="1200" cap="none" spc="0" normalizeH="0" baseline="0" noProof="0" dirty="0" err="1">
                <a:solidFill>
                  <a:srgbClr val="FFFFFF"/>
                </a:solidFill>
                <a:latin typeface="Times New Roman" panose="02020603050405020304" pitchFamily="18" charset="0"/>
                <a:ea typeface="+mn-ea"/>
                <a:cs typeface="Times New Roman" panose="02020603050405020304" pitchFamily="18" charset="0"/>
              </a:rPr>
              <a:t>ECOVISION:Deep</a:t>
            </a:r>
            <a:r>
              <a:rPr kumimoji="0" lang="en-US" altLang="en-US" sz="1500" b="1" i="1" kern="1200" cap="none" spc="0" normalizeH="0" baseline="0" noProof="0" dirty="0">
                <a:solidFill>
                  <a:srgbClr val="FFFFFF"/>
                </a:solidFill>
                <a:latin typeface="Times New Roman" panose="02020603050405020304" pitchFamily="18" charset="0"/>
                <a:ea typeface="+mn-ea"/>
                <a:cs typeface="Times New Roman" panose="02020603050405020304" pitchFamily="18" charset="0"/>
              </a:rPr>
              <a:t> Learning model for Seasonal Detection </a:t>
            </a:r>
            <a:endParaRPr kumimoji="0" lang="en-US" altLang="en-US" sz="1500" kern="1200" cap="none" spc="0" normalizeH="0" baseline="0" noProof="0" dirty="0">
              <a:solidFill>
                <a:srgbClr val="000000"/>
              </a:solidFill>
              <a:latin typeface="Times New Roman" panose="02020603050405020304" pitchFamily="18" charset="0"/>
              <a:ea typeface="+mn-ea"/>
              <a:cs typeface="Times New Roman" panose="02020603050405020304" pitchFamily="18" charset="0"/>
            </a:endParaRPr>
          </a:p>
          <a:p>
            <a:pPr marL="12700" marR="0" defTabSz="914400" eaLnBrk="1" fontAlgn="auto" hangingPunct="1">
              <a:spcBef>
                <a:spcPts val="100"/>
              </a:spcBef>
              <a:spcAft>
                <a:spcPts val="0"/>
              </a:spcAft>
              <a:buClrTx/>
              <a:buSzTx/>
              <a:buFontTx/>
              <a:buNone/>
              <a:defRPr/>
            </a:pPr>
            <a:r>
              <a:rPr kumimoji="0" lang="en-US" sz="1500" b="1" i="1" kern="0" cap="none" spc="0" normalizeH="0" baseline="0" noProof="0" dirty="0">
                <a:solidFill>
                  <a:srgbClr val="FFFFFF"/>
                </a:solidFill>
                <a:latin typeface="Times New Roman" panose="02020603050405020304"/>
                <a:ea typeface="+mn-ea"/>
                <a:cs typeface="Times New Roman" panose="02020603050405020304"/>
              </a:rPr>
              <a:t>he</a:t>
            </a:r>
            <a:r>
              <a:rPr kumimoji="0" lang="en-US" sz="1500" b="1" i="1" kern="0" cap="none" spc="-20" normalizeH="0" baseline="0" noProof="0" dirty="0">
                <a:solidFill>
                  <a:srgbClr val="FFFFFF"/>
                </a:solidFill>
                <a:latin typeface="Times New Roman" panose="02020603050405020304"/>
                <a:ea typeface="+mn-ea"/>
                <a:cs typeface="Times New Roman" panose="02020603050405020304"/>
              </a:rPr>
              <a:t> </a:t>
            </a:r>
            <a:r>
              <a:rPr kumimoji="0" lang="en-US" sz="1500" b="1" i="1" kern="0" cap="none" spc="-10" normalizeH="0" baseline="0" noProof="0" dirty="0">
                <a:solidFill>
                  <a:srgbClr val="FFFFFF"/>
                </a:solidFill>
                <a:latin typeface="Times New Roman" panose="02020603050405020304"/>
                <a:ea typeface="+mn-ea"/>
                <a:cs typeface="Times New Roman" panose="02020603050405020304"/>
              </a:rPr>
              <a:t>Project</a:t>
            </a: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endParaRPr kumimoji="0" sz="15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1267" name="object 3"/>
          <p:cNvGrpSpPr/>
          <p:nvPr/>
        </p:nvGrpSpPr>
        <p:grpSpPr>
          <a:xfrm>
            <a:off x="0" y="217488"/>
            <a:ext cx="12192000" cy="803275"/>
            <a:chOff x="0" y="216720"/>
            <a:chExt cx="12192000" cy="803275"/>
          </a:xfrm>
        </p:grpSpPr>
        <p:pic>
          <p:nvPicPr>
            <p:cNvPr id="11274"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1275"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73025" y="182563"/>
            <a:ext cx="4738688" cy="689932"/>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lang="en-US" dirty="0"/>
              <a:t>Objective of Project</a:t>
            </a:r>
            <a:endPar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endParaRPr>
          </a:p>
        </p:txBody>
      </p:sp>
      <p:sp>
        <p:nvSpPr>
          <p:cNvPr id="8" name="object 8"/>
          <p:cNvSpPr txBox="1">
            <a:spLocks noGrp="1"/>
          </p:cNvSpPr>
          <p:nvPr>
            <p:ph type="ftr" sz="quarter" idx="3"/>
          </p:nvPr>
        </p:nvSpPr>
        <p:spPr>
          <a:xfrm>
            <a:off x="149225" y="6629400"/>
            <a:ext cx="635000" cy="230832"/>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lang="en-US" dirty="0"/>
              <a:t>B-02</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9" name="object 9"/>
          <p:cNvSpPr txBox="1">
            <a:spLocks noGrp="1"/>
          </p:cNvSpPr>
          <p:nvPr>
            <p:ph type="dt" sz="half" idx="2"/>
          </p:nvPr>
        </p:nvSpPr>
        <p:spPr>
          <a:xfrm>
            <a:off x="1773238" y="6629400"/>
            <a:ext cx="4017963" cy="5334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2231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C9A058BF-499F-4118-9D56-70370F5F56F2}"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6</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1273" name="object 7"/>
          <p:cNvSpPr>
            <a:spLocks noGrp="1"/>
          </p:cNvSpPr>
          <p:nvPr>
            <p:ph type="body" idx="1"/>
          </p:nvPr>
        </p:nvSpPr>
        <p:spPr>
          <a:xfrm>
            <a:off x="236538" y="1074738"/>
            <a:ext cx="11347450" cy="5749266"/>
          </a:xfrm>
          <a:ln/>
        </p:spPr>
        <p:txBody>
          <a:bodyPr vert="horz" wrap="square" lIns="0" tIns="60960" rIns="0" bIns="0" anchor="t" anchorCtr="0">
            <a:spAutoFit/>
          </a:bodyPr>
          <a:lstStyle/>
          <a:p>
            <a:r>
              <a:rPr lang="en-US" sz="2400" b="1" dirty="0"/>
              <a:t>Primary Objectives:</a:t>
            </a:r>
          </a:p>
          <a:p>
            <a:pPr marL="342900" indent="-342900">
              <a:buFont typeface="Arial" panose="020B0604020202020204" pitchFamily="34" charset="0"/>
              <a:buChar char="•"/>
            </a:pPr>
            <a:r>
              <a:rPr lang="en-US" sz="2400" dirty="0"/>
              <a:t>To develop a </a:t>
            </a:r>
            <a:r>
              <a:rPr lang="en-US" sz="2400" b="1" dirty="0"/>
              <a:t>deep learning–based seasonal detection system</a:t>
            </a:r>
            <a:r>
              <a:rPr lang="en-US" sz="2400" dirty="0"/>
              <a:t> that integrates plant images with real-time environmental parameters for accurate and automated season prediction.</a:t>
            </a:r>
          </a:p>
          <a:p>
            <a:r>
              <a:rPr lang="en-US" sz="2400" b="1" dirty="0"/>
              <a:t>Supporting Objectives:</a:t>
            </a:r>
          </a:p>
          <a:p>
            <a:pPr marL="342900" indent="-342900">
              <a:buFont typeface="Arial" panose="020B0604020202020204" pitchFamily="34" charset="0"/>
              <a:buChar char="•"/>
            </a:pPr>
            <a:r>
              <a:rPr lang="en-US" sz="2400" b="1" dirty="0"/>
              <a:t>To assist biotechnology and plant science research</a:t>
            </a:r>
            <a:r>
              <a:rPr lang="en-US" sz="2400" dirty="0"/>
              <a:t> by providing a scientific tool capable of detecting seasonal changes using plant phenology.</a:t>
            </a:r>
          </a:p>
          <a:p>
            <a:pPr marL="342900" indent="-342900">
              <a:buFont typeface="Arial" panose="020B0604020202020204" pitchFamily="34" charset="0"/>
              <a:buChar char="•"/>
            </a:pPr>
            <a:r>
              <a:rPr lang="en-US" sz="2400" b="1" dirty="0"/>
              <a:t>To support environmental surveys and ecological studies</a:t>
            </a:r>
            <a:r>
              <a:rPr lang="en-US" sz="2400" dirty="0"/>
              <a:t> by generating reliable seasonal data through combined image analysis and climatic measurements.</a:t>
            </a:r>
          </a:p>
          <a:p>
            <a:pPr marL="342900" indent="-342900">
              <a:buFont typeface="Arial" panose="020B0604020202020204" pitchFamily="34" charset="0"/>
              <a:buChar char="•"/>
            </a:pPr>
            <a:r>
              <a:rPr lang="en-US" sz="2400" b="1" dirty="0"/>
              <a:t>To help science and engineering students</a:t>
            </a:r>
            <a:r>
              <a:rPr lang="en-US" sz="2400" dirty="0"/>
              <a:t> learn seasonal prediction and plant analysis through an easy-to-use, AI-powered application.</a:t>
            </a:r>
          </a:p>
          <a:p>
            <a:pPr marL="342900" indent="-342900">
              <a:buFont typeface="Arial" panose="020B0604020202020204" pitchFamily="34" charset="0"/>
              <a:buChar char="•"/>
            </a:pPr>
            <a:r>
              <a:rPr lang="en-US" sz="2400" b="1" dirty="0"/>
              <a:t>To improve accuracy over traditional methods</a:t>
            </a:r>
            <a:r>
              <a:rPr lang="en-US" sz="2400" dirty="0"/>
              <a:t> by using a multimodal deep learning model that combines both visual cues and environmental conditions.</a:t>
            </a:r>
          </a:p>
          <a:p>
            <a:pPr marL="342900" indent="-342900">
              <a:buFont typeface="Arial" panose="020B0604020202020204" pitchFamily="34" charset="0"/>
              <a:buChar char="•"/>
            </a:pPr>
            <a:endParaRPr lang="en-US" altLang="en-US" sz="2400" dirty="0">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2680354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400" y="-19050"/>
            <a:ext cx="7242175" cy="974725"/>
          </a:xfrm>
          <a:prstGeom prst="rect">
            <a:avLst/>
          </a:prstGeom>
        </p:spPr>
        <p:txBody>
          <a:bodyPr wrap="square" lIns="0" tIns="12700" rIns="0" bIns="0">
            <a:spAutoFit/>
          </a:bodyPr>
          <a:lstStyle/>
          <a:p>
            <a:pPr marL="12700" algn="ctr" eaLnBrk="1" hangingPunct="1">
              <a:spcBef>
                <a:spcPts val="100"/>
              </a:spcBef>
              <a:buNone/>
            </a:pPr>
            <a:r>
              <a:rPr lang="zh-CN" altLang="x-none" sz="1500" b="1" i="1">
                <a:solidFill>
                  <a:srgbClr val="FFFFFF"/>
                </a:solidFill>
                <a:latin typeface="Times New Roman" panose="02020603050405020304" pitchFamily="18" charset="0"/>
                <a:cs typeface="Times New Roman" panose="02020603050405020304" pitchFamily="18" charset="0"/>
              </a:rPr>
              <a:t> </a:t>
            </a:r>
            <a:r>
              <a:rPr sz="1500" b="1" i="1" dirty="0">
                <a:solidFill>
                  <a:srgbClr val="FFFFFF"/>
                </a:solidFill>
                <a:latin typeface="Times New Roman" panose="02020603050405020304" pitchFamily="18" charset="0"/>
                <a:cs typeface="Times New Roman" panose="02020603050405020304" pitchFamily="18" charset="0"/>
              </a:rPr>
              <a:t>     </a:t>
            </a:r>
            <a:r>
              <a:rPr lang="en-US" altLang="en-US" sz="1500" b="1" i="1" dirty="0">
                <a:solidFill>
                  <a:srgbClr val="FFFFFF"/>
                </a:solidFill>
                <a:latin typeface="Times New Roman" panose="02020603050405020304" pitchFamily="18" charset="0"/>
                <a:cs typeface="Times New Roman" panose="02020603050405020304" pitchFamily="18" charset="0"/>
              </a:rPr>
              <a:t>ECOVISION:Deep Learning model for Seasonal Detection </a:t>
            </a:r>
            <a:endParaRPr lang="en-US" altLang="en-US" sz="1500" dirty="0">
              <a:solidFill>
                <a:srgbClr val="000000"/>
              </a:solidFill>
              <a:latin typeface="Times New Roman" panose="02020603050405020304" pitchFamily="18" charset="0"/>
              <a:cs typeface="Times New Roman" panose="02020603050405020304" pitchFamily="18" charset="0"/>
            </a:endParaRPr>
          </a:p>
          <a:p>
            <a:pPr marL="12700" eaLnBrk="1" hangingPunct="1">
              <a:spcBef>
                <a:spcPts val="100"/>
              </a:spcBef>
              <a:buNone/>
            </a:pPr>
            <a:r>
              <a:rPr sz="1500" b="1" i="1" dirty="0">
                <a:solidFill>
                  <a:srgbClr val="FFFFFF"/>
                </a:solidFill>
                <a:latin typeface="Times New Roman" panose="02020603050405020304" pitchFamily="18" charset="0"/>
                <a:cs typeface="Times New Roman" panose="02020603050405020304" pitchFamily="18" charset="0"/>
              </a:rPr>
              <a:t>he Project</a:t>
            </a:r>
            <a:endParaRPr sz="1500" dirty="0">
              <a:solidFill>
                <a:srgbClr val="000000"/>
              </a:solidFill>
              <a:latin typeface="Times New Roman" panose="02020603050405020304" pitchFamily="18" charset="0"/>
              <a:cs typeface="Times New Roman" panose="02020603050405020304" pitchFamily="18" charset="0"/>
            </a:endParaRPr>
          </a:p>
          <a:p>
            <a:pPr marL="12700" eaLnBrk="1" hangingPunct="1">
              <a:spcBef>
                <a:spcPts val="100"/>
              </a:spcBef>
              <a:buNone/>
            </a:pPr>
            <a:endParaRPr sz="1500" dirty="0">
              <a:solidFill>
                <a:srgbClr val="000000"/>
              </a:solidFill>
              <a:latin typeface="Times New Roman" panose="02020603050405020304" pitchFamily="18" charset="0"/>
              <a:cs typeface="Times New Roman" panose="02020603050405020304" pitchFamily="18" charset="0"/>
            </a:endParaRPr>
          </a:p>
          <a:p>
            <a:pPr marL="12700" eaLnBrk="1" hangingPunct="1">
              <a:spcBef>
                <a:spcPts val="100"/>
              </a:spcBef>
              <a:buNone/>
            </a:pPr>
            <a:r>
              <a:rPr lang="zh-CN" altLang="x-none" sz="1500" b="1" i="1" err="1">
                <a:solidFill>
                  <a:srgbClr val="FFFFFF"/>
                </a:solidFill>
                <a:latin typeface="Times New Roman" panose="02020603050405020304" pitchFamily="18" charset="0"/>
                <a:cs typeface="Times New Roman" panose="02020603050405020304" pitchFamily="18" charset="0"/>
              </a:rPr>
              <a:t>ct</a:t>
            </a:r>
            <a:endParaRPr lang="zh-CN" altLang="x-none" sz="1500">
              <a:solidFill>
                <a:srgbClr val="000000"/>
              </a:solidFill>
              <a:latin typeface="Times New Roman" panose="02020603050405020304" pitchFamily="18" charset="0"/>
              <a:ea typeface="Times New Roman" panose="02020603050405020304" pitchFamily="18" charset="0"/>
            </a:endParaRPr>
          </a:p>
        </p:txBody>
      </p:sp>
      <p:grpSp>
        <p:nvGrpSpPr>
          <p:cNvPr id="13315" name="object 3"/>
          <p:cNvGrpSpPr/>
          <p:nvPr/>
        </p:nvGrpSpPr>
        <p:grpSpPr>
          <a:xfrm>
            <a:off x="0" y="209550"/>
            <a:ext cx="12192000" cy="803275"/>
            <a:chOff x="0" y="216720"/>
            <a:chExt cx="12192000" cy="803275"/>
          </a:xfrm>
        </p:grpSpPr>
        <p:pic>
          <p:nvPicPr>
            <p:cNvPr id="13322"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3323"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p:nvPr/>
        </p:nvSpPr>
        <p:spPr>
          <a:xfrm>
            <a:off x="73025" y="209550"/>
            <a:ext cx="7242175" cy="1457325"/>
          </a:xfrm>
          <a:prstGeom prst="rect">
            <a:avLst/>
          </a:prstGeom>
        </p:spPr>
        <p:txBody>
          <a:bodyPr wrap="square" lIns="0" tIns="12700" rIns="0" bIns="0">
            <a:spAutoFit/>
          </a:bodyPr>
          <a:lstStyle/>
          <a:p>
            <a:pPr marL="12700" eaLnBrk="1" hangingPunct="1">
              <a:spcBef>
                <a:spcPts val="100"/>
              </a:spcBef>
              <a:buNone/>
            </a:pPr>
            <a:r>
              <a:rPr lang="zh-CN" altLang="x-none" sz="3600" dirty="0">
                <a:solidFill>
                  <a:schemeClr val="bg1"/>
                </a:solidFill>
                <a:latin typeface="Times New Roman" panose="02020603050405020304" pitchFamily="18" charset="0"/>
                <a:cs typeface="Times New Roman" panose="02020603050405020304" pitchFamily="18" charset="0"/>
              </a:rPr>
              <a:t>Literature survey for objectives</a:t>
            </a:r>
          </a:p>
          <a:p>
            <a:pPr marL="12700" eaLnBrk="1" hangingPunct="1">
              <a:spcBef>
                <a:spcPts val="225"/>
              </a:spcBef>
              <a:buNone/>
            </a:pPr>
            <a:endParaRPr lang="zh-CN" altLang="x-none" sz="2800" dirty="0">
              <a:solidFill>
                <a:srgbClr val="000000"/>
              </a:solidFill>
              <a:latin typeface="Times New Roman" panose="02020603050405020304" pitchFamily="18" charset="0"/>
              <a:cs typeface="Times New Roman" panose="02020603050405020304" pitchFamily="18" charset="0"/>
            </a:endParaRPr>
          </a:p>
          <a:p>
            <a:pPr marL="12700" eaLnBrk="1" hangingPunct="1">
              <a:buNone/>
            </a:pPr>
            <a:endParaRPr lang="zh-CN" altLang="x-none" sz="2800" dirty="0">
              <a:solidFill>
                <a:srgbClr val="000000"/>
              </a:solidFill>
              <a:latin typeface="Lucida Sans Unicode" panose="020B0602030504020204" pitchFamily="34" charset="0"/>
              <a:ea typeface="Lucida Sans Unicode" panose="020B0602030504020204" pitchFamily="34" charset="0"/>
            </a:endParaRPr>
          </a:p>
        </p:txBody>
      </p:sp>
      <p:sp>
        <p:nvSpPr>
          <p:cNvPr id="13317" name="Text Placeholder 3"/>
          <p:cNvSpPr>
            <a:spLocks noGrp="1"/>
          </p:cNvSpPr>
          <p:nvPr>
            <p:ph type="body" idx="1"/>
          </p:nvPr>
        </p:nvSpPr>
        <p:spPr>
          <a:xfrm>
            <a:off x="363220" y="1094105"/>
            <a:ext cx="11430000" cy="5238750"/>
          </a:xfrm>
          <a:ln/>
        </p:spPr>
        <p:txBody>
          <a:bodyPr vert="horz" wrap="square" lIns="0" tIns="0" rIns="0" bIns="0" anchor="t" anchorCtr="0">
            <a:noAutofit/>
          </a:bodyPr>
          <a:lstStyle/>
          <a:p>
            <a:pPr marL="342900" indent="-342900">
              <a:buFont typeface="Arial" panose="020B0604020202020204" pitchFamily="34" charset="0"/>
              <a:buChar char="•"/>
            </a:pPr>
            <a:r>
              <a:rPr lang="en-US" altLang="en-US" sz="2000" dirty="0">
                <a:latin typeface="Times New Roman" panose="02020603050405020304" pitchFamily="18" charset="0"/>
                <a:ea typeface="Times New Roman" panose="02020603050405020304" pitchFamily="18" charset="0"/>
                <a:cs typeface="+mn-cs"/>
              </a:rPr>
              <a:t>Singh et al. (2021) developed a CNN-based model to classify seasons using plant leaf images. Their work proved that visual features such as leaf color, texture, and dryness can accurately reflect natural seasonal changes. This supports your objective of using plant/tree images for season detection.</a:t>
            </a:r>
            <a:r>
              <a:rPr lang="en-US" altLang="en-US" sz="2000" b="1" dirty="0">
                <a:latin typeface="Times New Roman" panose="02020603050405020304" pitchFamily="18" charset="0"/>
                <a:ea typeface="Times New Roman" panose="02020603050405020304" pitchFamily="18" charset="0"/>
                <a:cs typeface="+mn-cs"/>
              </a:rPr>
              <a:t>Source: IEEE Xplor</a:t>
            </a:r>
            <a:r>
              <a:rPr lang="en-US" altLang="en-US" sz="2000" dirty="0">
                <a:latin typeface="Times New Roman" panose="02020603050405020304" pitchFamily="18" charset="0"/>
                <a:ea typeface="Times New Roman" panose="02020603050405020304" pitchFamily="18" charset="0"/>
                <a:cs typeface="+mn-cs"/>
              </a:rPr>
              <a:t>e</a:t>
            </a:r>
          </a:p>
          <a:p>
            <a:pPr marL="342900" indent="-342900">
              <a:buFont typeface="Arial" panose="020B0604020202020204" pitchFamily="34" charset="0"/>
              <a:buChar char="•"/>
            </a:pPr>
            <a:endParaRPr lang="en-US" altLang="en-US" sz="2000" dirty="0">
              <a:latin typeface="Times New Roman" panose="02020603050405020304" pitchFamily="18" charset="0"/>
              <a:ea typeface="Times New Roman" panose="02020603050405020304" pitchFamily="18" charset="0"/>
              <a:cs typeface="+mn-cs"/>
            </a:endParaRPr>
          </a:p>
          <a:p>
            <a:pPr marL="342900" indent="-342900">
              <a:buFont typeface="Arial" panose="020B0604020202020204" pitchFamily="34" charset="0"/>
              <a:buChar char="•"/>
            </a:pPr>
            <a:r>
              <a:rPr lang="en-US" altLang="en-US" sz="2000" dirty="0">
                <a:latin typeface="Times New Roman" panose="02020603050405020304" pitchFamily="18" charset="0"/>
                <a:ea typeface="Times New Roman" panose="02020603050405020304" pitchFamily="18" charset="0"/>
                <a:cs typeface="+mn-cs"/>
              </a:rPr>
              <a:t>Zhou et al. (2021) proposed a machine learning model that uses environmental parameters such as temperature, humidity, and rainfall to detect seasonal variations. Their findings show that combining visual features with environmental data improves prediction accuracy. This aligns with your multimodal approach</a:t>
            </a:r>
            <a:r>
              <a:rPr lang="en-US" altLang="en-US" sz="2000" b="1" dirty="0">
                <a:latin typeface="Times New Roman" panose="02020603050405020304" pitchFamily="18" charset="0"/>
                <a:ea typeface="Times New Roman" panose="02020603050405020304" pitchFamily="18" charset="0"/>
                <a:cs typeface="+mn-cs"/>
              </a:rPr>
              <a:t>.Source: MDPI</a:t>
            </a:r>
          </a:p>
          <a:p>
            <a:pPr marL="342900" indent="-342900">
              <a:buFont typeface="Arial" panose="020B0604020202020204" pitchFamily="34" charset="0"/>
              <a:buChar char="•"/>
            </a:pPr>
            <a:endParaRPr lang="en-US" altLang="en-US" sz="2000" b="1" dirty="0">
              <a:latin typeface="Times New Roman" panose="02020603050405020304" pitchFamily="18" charset="0"/>
              <a:ea typeface="Times New Roman" panose="02020603050405020304" pitchFamily="18" charset="0"/>
              <a:cs typeface="+mn-cs"/>
            </a:endParaRPr>
          </a:p>
          <a:p>
            <a:pPr marL="342900" indent="-342900">
              <a:buFont typeface="Arial" panose="020B0604020202020204" pitchFamily="34" charset="0"/>
              <a:buChar char="•"/>
            </a:pPr>
            <a:r>
              <a:rPr lang="en-US" altLang="en-US" sz="2000" dirty="0">
                <a:latin typeface="Times New Roman" panose="02020603050405020304" pitchFamily="18" charset="0"/>
                <a:ea typeface="Times New Roman" panose="02020603050405020304" pitchFamily="18" charset="0"/>
                <a:cs typeface="+mn-cs"/>
              </a:rPr>
              <a:t>Das and Sen (2020) used computer vision techniques to study plant phenology (leafing, flowering, fruiting stages). Their research demonstrated that changes in plant biological cycles directly correlate with seasonal transitions. This supports your aim of ecological pattern recognition using images.</a:t>
            </a:r>
            <a:r>
              <a:rPr lang="en-US" altLang="en-US" sz="2000" b="1" dirty="0">
                <a:latin typeface="Times New Roman" panose="02020603050405020304" pitchFamily="18" charset="0"/>
                <a:ea typeface="Times New Roman" panose="02020603050405020304" pitchFamily="18" charset="0"/>
                <a:cs typeface="+mn-cs"/>
              </a:rPr>
              <a:t>Source: ScienceDirect</a:t>
            </a:r>
          </a:p>
          <a:p>
            <a:pPr marL="342900" indent="-342900">
              <a:buFont typeface="Arial" panose="020B0604020202020204" pitchFamily="34" charset="0"/>
              <a:buChar char="•"/>
            </a:pPr>
            <a:endParaRPr lang="en-US" altLang="en-US" sz="2000" b="1" dirty="0">
              <a:latin typeface="Times New Roman" panose="02020603050405020304" pitchFamily="18" charset="0"/>
              <a:ea typeface="Times New Roman" panose="02020603050405020304" pitchFamily="18" charset="0"/>
              <a:cs typeface="+mn-cs"/>
            </a:endParaRPr>
          </a:p>
          <a:p>
            <a:pPr marL="342900" indent="-342900">
              <a:buFont typeface="Arial" panose="020B0604020202020204" pitchFamily="34" charset="0"/>
              <a:buChar char="•"/>
            </a:pPr>
            <a:r>
              <a:rPr lang="en-US" altLang="en-US" sz="2000" dirty="0">
                <a:latin typeface="Times New Roman" panose="02020603050405020304" pitchFamily="18" charset="0"/>
                <a:ea typeface="Times New Roman" panose="02020603050405020304" pitchFamily="18" charset="0"/>
                <a:cs typeface="+mn-cs"/>
              </a:rPr>
              <a:t>Rai &amp; Kaur (2022) designed a deep learning model using CNN and LSTM networks to predict seasonal and weather patterns. Their results showed that deep learning significantly outperforms traditional machine learning in detecting environmental changes. This relates to your goal of using a deep learning–based seasonal detection model</a:t>
            </a:r>
            <a:r>
              <a:rPr lang="en-IN" altLang="en-US" sz="2000" dirty="0">
                <a:latin typeface="Times New Roman" panose="02020603050405020304" pitchFamily="18" charset="0"/>
                <a:ea typeface="Times New Roman" panose="02020603050405020304" pitchFamily="18" charset="0"/>
                <a:cs typeface="+mn-cs"/>
              </a:rPr>
              <a:t> </a:t>
            </a:r>
            <a:r>
              <a:rPr lang="en-US" altLang="en-US" sz="2000" b="1" dirty="0">
                <a:latin typeface="Times New Roman" panose="02020603050405020304" pitchFamily="18" charset="0"/>
                <a:ea typeface="Times New Roman" panose="02020603050405020304" pitchFamily="18" charset="0"/>
                <a:cs typeface="+mn-cs"/>
              </a:rPr>
              <a:t>Source: SpringerLink</a:t>
            </a:r>
          </a:p>
          <a:p>
            <a:pPr>
              <a:buNone/>
            </a:pPr>
            <a:endParaRPr lang="en-US" altLang="en-US" sz="2000" b="1" dirty="0">
              <a:latin typeface="Times New Roman" panose="02020603050405020304" pitchFamily="18" charset="0"/>
              <a:ea typeface="Times New Roman" panose="02020603050405020304" pitchFamily="18" charset="0"/>
              <a:cs typeface="+mn-cs"/>
            </a:endParaRPr>
          </a:p>
        </p:txBody>
      </p:sp>
      <p:sp>
        <p:nvSpPr>
          <p:cNvPr id="7" name="object 7"/>
          <p:cNvSpPr txBox="1">
            <a:spLocks noGrp="1"/>
          </p:cNvSpPr>
          <p:nvPr>
            <p:ph type="ftr" sz="quarter" idx="3"/>
          </p:nvPr>
        </p:nvSpPr>
        <p:spPr>
          <a:xfrm>
            <a:off x="149225" y="6629400"/>
            <a:ext cx="635000" cy="230188"/>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sz="1600" dirty="0">
                <a:solidFill>
                  <a:schemeClr val="bg1"/>
                </a:solidFill>
                <a:latin typeface="Times New Roman" panose="02020603050405020304" pitchFamily="18" charset="0"/>
                <a:cs typeface="Times New Roman" panose="02020603050405020304" pitchFamily="18" charset="0"/>
              </a:rPr>
              <a:t>B-02</a:t>
            </a:r>
            <a:endParaRPr lang="zh-CN" altLang="x-none" sz="1600">
              <a:solidFill>
                <a:schemeClr val="bg1"/>
              </a:solidFill>
              <a:latin typeface="Times New Roman" panose="02020603050405020304" pitchFamily="18" charset="0"/>
              <a:ea typeface="Times New Roman" panose="02020603050405020304" pitchFamily="18" charset="0"/>
            </a:endParaRPr>
          </a:p>
        </p:txBody>
      </p:sp>
      <p:sp>
        <p:nvSpPr>
          <p:cNvPr id="8" name="object 8"/>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7</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400" y="-19050"/>
            <a:ext cx="6553200" cy="974725"/>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kumimoji="0" lang="en-US" sz="1500" b="1" i="1" kern="0" cap="none" spc="-10" normalizeH="0" baseline="0" noProof="0" dirty="0">
                <a:solidFill>
                  <a:srgbClr val="FFFFFF"/>
                </a:solidFill>
                <a:latin typeface="Times New Roman" panose="02020603050405020304"/>
                <a:ea typeface="+mn-ea"/>
                <a:cs typeface="Times New Roman" panose="02020603050405020304"/>
              </a:rPr>
              <a:t> </a:t>
            </a:r>
            <a:r>
              <a:rPr kumimoji="0" lang="en-US" altLang="en-US" sz="1500" b="1" i="1" kern="1200" cap="none" spc="0" normalizeH="0" baseline="0" noProof="0" dirty="0" err="1">
                <a:solidFill>
                  <a:srgbClr val="FFFFFF"/>
                </a:solidFill>
                <a:latin typeface="Times New Roman" panose="02020603050405020304" pitchFamily="18" charset="0"/>
                <a:ea typeface="+mn-ea"/>
                <a:cs typeface="Times New Roman" panose="02020603050405020304" pitchFamily="18" charset="0"/>
              </a:rPr>
              <a:t>ECOVISION:Deep</a:t>
            </a:r>
            <a:r>
              <a:rPr kumimoji="0" lang="en-US" altLang="en-US" sz="1500" b="1" i="1" kern="1200" cap="none" spc="0" normalizeH="0" baseline="0" noProof="0" dirty="0">
                <a:solidFill>
                  <a:srgbClr val="FFFFFF"/>
                </a:solidFill>
                <a:latin typeface="Times New Roman" panose="02020603050405020304" pitchFamily="18" charset="0"/>
                <a:ea typeface="+mn-ea"/>
                <a:cs typeface="Times New Roman" panose="02020603050405020304" pitchFamily="18" charset="0"/>
              </a:rPr>
              <a:t> Learning model for Seasonal Detection </a:t>
            </a:r>
            <a:endParaRPr kumimoji="0" lang="en-US" altLang="en-US" sz="1500" kern="1200" cap="none" spc="0" normalizeH="0" baseline="0" noProof="0" dirty="0">
              <a:solidFill>
                <a:srgbClr val="000000"/>
              </a:solidFill>
              <a:latin typeface="Times New Roman" panose="02020603050405020304" pitchFamily="18" charset="0"/>
              <a:ea typeface="+mn-ea"/>
              <a:cs typeface="Times New Roman" panose="02020603050405020304" pitchFamily="18" charset="0"/>
            </a:endParaRPr>
          </a:p>
          <a:p>
            <a:pPr marL="12700" marR="0" defTabSz="914400" eaLnBrk="1" fontAlgn="auto" hangingPunct="1">
              <a:spcBef>
                <a:spcPts val="100"/>
              </a:spcBef>
              <a:spcAft>
                <a:spcPts val="0"/>
              </a:spcAft>
              <a:buClrTx/>
              <a:buSzTx/>
              <a:buFontTx/>
              <a:buNone/>
              <a:defRPr/>
            </a:pPr>
            <a:r>
              <a:rPr kumimoji="0" lang="en-US" sz="1500" b="1" i="1" kern="0" cap="none" spc="0" normalizeH="0" baseline="0" noProof="0" dirty="0">
                <a:solidFill>
                  <a:srgbClr val="FFFFFF"/>
                </a:solidFill>
                <a:latin typeface="Times New Roman" panose="02020603050405020304"/>
                <a:ea typeface="+mn-ea"/>
                <a:cs typeface="Times New Roman" panose="02020603050405020304"/>
              </a:rPr>
              <a:t>he</a:t>
            </a:r>
            <a:r>
              <a:rPr kumimoji="0" lang="en-US" sz="1500" b="1" i="1" kern="0" cap="none" spc="-20" normalizeH="0" baseline="0" noProof="0" dirty="0">
                <a:solidFill>
                  <a:srgbClr val="FFFFFF"/>
                </a:solidFill>
                <a:latin typeface="Times New Roman" panose="02020603050405020304"/>
                <a:ea typeface="+mn-ea"/>
                <a:cs typeface="Times New Roman" panose="02020603050405020304"/>
              </a:rPr>
              <a:t> </a:t>
            </a:r>
            <a:r>
              <a:rPr kumimoji="0" lang="en-US" sz="1500" b="1" i="1" kern="0" cap="none" spc="-10" normalizeH="0" baseline="0" noProof="0" dirty="0">
                <a:solidFill>
                  <a:srgbClr val="FFFFFF"/>
                </a:solidFill>
                <a:latin typeface="Times New Roman" panose="02020603050405020304"/>
                <a:ea typeface="+mn-ea"/>
                <a:cs typeface="Times New Roman" panose="02020603050405020304"/>
              </a:rPr>
              <a:t>Project</a:t>
            </a: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r>
              <a:rPr kumimoji="0" lang="en-US" sz="1500" b="1" i="1" kern="0" cap="none" spc="-10" normalizeH="0" baseline="0" noProof="0" dirty="0" err="1">
                <a:solidFill>
                  <a:srgbClr val="FFFFFF"/>
                </a:solidFill>
                <a:latin typeface="Times New Roman" panose="02020603050405020304"/>
                <a:ea typeface="+mn-ea"/>
                <a:cs typeface="Times New Roman" panose="02020603050405020304"/>
              </a:rPr>
              <a:t>ct</a:t>
            </a:r>
            <a:endParaRPr kumimoji="0" sz="15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4339" name="object 4"/>
          <p:cNvGrpSpPr/>
          <p:nvPr/>
        </p:nvGrpSpPr>
        <p:grpSpPr>
          <a:xfrm>
            <a:off x="0" y="234950"/>
            <a:ext cx="12192000" cy="803275"/>
            <a:chOff x="0" y="216720"/>
            <a:chExt cx="12192000" cy="803275"/>
          </a:xfrm>
        </p:grpSpPr>
        <p:pic>
          <p:nvPicPr>
            <p:cNvPr id="14346" name="object 5"/>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4347" name="object 6"/>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p:cNvSpPr txBox="1">
            <a:spLocks noGrp="1"/>
          </p:cNvSpPr>
          <p:nvPr>
            <p:ph type="title"/>
          </p:nvPr>
        </p:nvSpPr>
        <p:spPr>
          <a:xfrm>
            <a:off x="73025" y="182563"/>
            <a:ext cx="3887788" cy="695325"/>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2232025" algn="l"/>
              </a:tabLst>
              <a:defRPr/>
            </a:pP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Proposed</a:t>
            </a: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System</a:t>
            </a:r>
          </a:p>
        </p:txBody>
      </p:sp>
      <p:sp>
        <p:nvSpPr>
          <p:cNvPr id="8" name="object 8"/>
          <p:cNvSpPr txBox="1">
            <a:spLocks noGrp="1"/>
          </p:cNvSpPr>
          <p:nvPr>
            <p:ph type="ftr" sz="quarter" idx="3"/>
          </p:nvPr>
        </p:nvSpPr>
        <p:spPr>
          <a:xfrm>
            <a:off x="149225" y="6629400"/>
            <a:ext cx="635000" cy="230188"/>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sz="1600" dirty="0">
                <a:solidFill>
                  <a:schemeClr val="bg1"/>
                </a:solidFill>
                <a:latin typeface="Times New Roman" panose="02020603050405020304" pitchFamily="18" charset="0"/>
                <a:cs typeface="Times New Roman" panose="02020603050405020304" pitchFamily="18" charset="0"/>
              </a:rPr>
              <a:t>B-02</a:t>
            </a:r>
            <a:endParaRPr lang="zh-CN" altLang="x-none" sz="160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179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7F29C2A7-B412-4608-BCDF-0A47B9ED3D08}"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8</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4345" name="Rectangle 5"/>
          <p:cNvSpPr/>
          <p:nvPr/>
        </p:nvSpPr>
        <p:spPr>
          <a:xfrm>
            <a:off x="457200" y="1038225"/>
            <a:ext cx="11430000" cy="5179695"/>
          </a:xfrm>
          <a:prstGeom prst="rect">
            <a:avLst/>
          </a:prstGeom>
          <a:noFill/>
          <a:ln w="9525">
            <a:noFill/>
          </a:ln>
        </p:spPr>
        <p:txBody>
          <a:bodyPr>
            <a:noAutofit/>
          </a:bodyPr>
          <a:lstStyle/>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proposed system, </a:t>
            </a:r>
            <a:r>
              <a:rPr lang="en-US" altLang="en-US" sz="2400" b="1" dirty="0">
                <a:latin typeface="Times New Roman" panose="02020603050405020304" pitchFamily="18" charset="0"/>
                <a:cs typeface="Times New Roman" panose="02020603050405020304" pitchFamily="18" charset="0"/>
              </a:rPr>
              <a:t>Ecovision</a:t>
            </a:r>
            <a:r>
              <a:rPr lang="en-US" altLang="en-US" sz="2400" dirty="0">
                <a:latin typeface="Times New Roman" panose="02020603050405020304" pitchFamily="18" charset="0"/>
                <a:cs typeface="Times New Roman" panose="02020603050405020304" pitchFamily="18" charset="0"/>
              </a:rPr>
              <a:t>, uses a </a:t>
            </a:r>
            <a:r>
              <a:rPr lang="en-US" altLang="en-US" sz="2400" b="1" dirty="0">
                <a:latin typeface="Times New Roman" panose="02020603050405020304" pitchFamily="18" charset="0"/>
                <a:cs typeface="Times New Roman" panose="02020603050405020304" pitchFamily="18" charset="0"/>
              </a:rPr>
              <a:t>deep learning model</a:t>
            </a:r>
            <a:r>
              <a:rPr lang="en-US" altLang="en-US" sz="2400" dirty="0">
                <a:latin typeface="Times New Roman" panose="02020603050405020304" pitchFamily="18" charset="0"/>
                <a:cs typeface="Times New Roman" panose="02020603050405020304" pitchFamily="18" charset="0"/>
              </a:rPr>
              <a:t> that analyzes both the plant/tree image and environmental parameters to accurately predict the current season.</a:t>
            </a:r>
          </a:p>
          <a:p>
            <a:pPr marL="285750" indent="-28575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CNN model</a:t>
            </a:r>
            <a:r>
              <a:rPr lang="en-US" altLang="en-US" sz="2400" dirty="0">
                <a:latin typeface="Times New Roman" panose="02020603050405020304" pitchFamily="18" charset="0"/>
                <a:cs typeface="Times New Roman" panose="02020603050405020304" pitchFamily="18" charset="0"/>
              </a:rPr>
              <a:t> extracts visual features such as leaf color, texture, dryness, and flowering patterns from the uploaded image.</a:t>
            </a:r>
          </a:p>
          <a:p>
            <a:pPr marL="285750" indent="-28575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 separate module processes </a:t>
            </a:r>
            <a:r>
              <a:rPr lang="en-US" altLang="en-US" sz="2400" b="1" dirty="0">
                <a:latin typeface="Times New Roman" panose="02020603050405020304" pitchFamily="18" charset="0"/>
                <a:cs typeface="Times New Roman" panose="02020603050405020304" pitchFamily="18" charset="0"/>
              </a:rPr>
              <a:t>environmental inputs</a:t>
            </a:r>
            <a:r>
              <a:rPr lang="en-US" altLang="en-US" sz="2400" dirty="0">
                <a:latin typeface="Times New Roman" panose="02020603050405020304" pitchFamily="18" charset="0"/>
                <a:cs typeface="Times New Roman" panose="02020603050405020304" pitchFamily="18" charset="0"/>
              </a:rPr>
              <a:t> like temperature, humidity, precipitation, wind speed, pressure, soil moisture, and cloud visibility.</a:t>
            </a:r>
          </a:p>
          <a:p>
            <a:pPr marL="285750" indent="-28575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Both image features and climatic data are </a:t>
            </a:r>
            <a:r>
              <a:rPr lang="en-US" altLang="en-US" sz="2400" b="1" dirty="0">
                <a:latin typeface="Times New Roman" panose="02020603050405020304" pitchFamily="18" charset="0"/>
                <a:cs typeface="Times New Roman" panose="02020603050405020304" pitchFamily="18" charset="0"/>
              </a:rPr>
              <a:t>combined (fused)</a:t>
            </a:r>
            <a:r>
              <a:rPr lang="en-US" altLang="en-US" sz="2400" dirty="0">
                <a:latin typeface="Times New Roman" panose="02020603050405020304" pitchFamily="18" charset="0"/>
                <a:cs typeface="Times New Roman" panose="02020603050405020304" pitchFamily="18" charset="0"/>
              </a:rPr>
              <a:t> to improve the accuracy and reliability of seasonal prediction.</a:t>
            </a:r>
          </a:p>
          <a:p>
            <a:pPr marL="285750" indent="-28575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system includes a </a:t>
            </a:r>
            <a:r>
              <a:rPr lang="en-US" altLang="en-US" sz="2400" b="1" dirty="0">
                <a:latin typeface="Times New Roman" panose="02020603050405020304" pitchFamily="18" charset="0"/>
                <a:cs typeface="Times New Roman" panose="02020603050405020304" pitchFamily="18" charset="0"/>
              </a:rPr>
              <a:t>simple and user-friendly interface</a:t>
            </a:r>
            <a:r>
              <a:rPr lang="en-US" altLang="en-US" sz="2400" dirty="0">
                <a:latin typeface="Times New Roman" panose="02020603050405020304" pitchFamily="18" charset="0"/>
                <a:cs typeface="Times New Roman" panose="02020603050405020304" pitchFamily="18" charset="0"/>
              </a:rPr>
              <a:t> where users can upload an image and enter environmental values.</a:t>
            </a:r>
          </a:p>
          <a:p>
            <a:pPr marL="285750" indent="-28575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backend processes the data and provides the </a:t>
            </a:r>
            <a:r>
              <a:rPr lang="en-US" altLang="en-US" sz="2400" b="1" dirty="0">
                <a:latin typeface="Times New Roman" panose="02020603050405020304" pitchFamily="18" charset="0"/>
                <a:cs typeface="Times New Roman" panose="02020603050405020304" pitchFamily="18" charset="0"/>
              </a:rPr>
              <a:t>predicted season with a confidence score</a:t>
            </a:r>
            <a:r>
              <a:rPr lang="en-US" altLang="en-US" sz="2400" dirty="0">
                <a:latin typeface="Times New Roman" panose="02020603050405020304" pitchFamily="18" charset="0"/>
                <a:cs typeface="Times New Roman" panose="02020603050405020304" pitchFamily="18" charset="0"/>
              </a:rPr>
              <a:t>, helping users make better agricultural and ecological decisions.</a:t>
            </a:r>
            <a:endParaRPr lang="en-US"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73238" y="-19050"/>
            <a:ext cx="8437563" cy="974725"/>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kumimoji="0" lang="en-US" sz="1500" b="1" i="1" kern="0" cap="none" spc="-10" normalizeH="0" baseline="0" noProof="0" dirty="0">
                <a:solidFill>
                  <a:srgbClr val="FFFFFF"/>
                </a:solidFill>
                <a:latin typeface="Times New Roman" panose="02020603050405020304"/>
                <a:ea typeface="+mn-ea"/>
                <a:cs typeface="Times New Roman" panose="02020603050405020304"/>
              </a:rPr>
              <a:t> </a:t>
            </a:r>
            <a:r>
              <a:rPr kumimoji="0" lang="en-US" altLang="en-US" sz="1500" b="1" i="1" kern="1200" cap="none" spc="0" normalizeH="0" baseline="0" noProof="0" dirty="0" err="1">
                <a:solidFill>
                  <a:srgbClr val="FFFFFF"/>
                </a:solidFill>
                <a:latin typeface="Times New Roman" panose="02020603050405020304" pitchFamily="18" charset="0"/>
                <a:ea typeface="+mn-ea"/>
                <a:cs typeface="Times New Roman" panose="02020603050405020304" pitchFamily="18" charset="0"/>
              </a:rPr>
              <a:t>ECOVISION:Deep</a:t>
            </a:r>
            <a:r>
              <a:rPr kumimoji="0" lang="en-US" altLang="en-US" sz="1500" b="1" i="1" kern="1200" cap="none" spc="0" normalizeH="0" baseline="0" noProof="0" dirty="0">
                <a:solidFill>
                  <a:srgbClr val="FFFFFF"/>
                </a:solidFill>
                <a:latin typeface="Times New Roman" panose="02020603050405020304" pitchFamily="18" charset="0"/>
                <a:ea typeface="+mn-ea"/>
                <a:cs typeface="Times New Roman" panose="02020603050405020304" pitchFamily="18" charset="0"/>
              </a:rPr>
              <a:t> Learning model for Seasonal Detection </a:t>
            </a:r>
            <a:endParaRPr kumimoji="0" lang="en-US" altLang="en-US" sz="1500" kern="1200" cap="none" spc="0" normalizeH="0" baseline="0" noProof="0" dirty="0">
              <a:solidFill>
                <a:srgbClr val="000000"/>
              </a:solidFill>
              <a:latin typeface="Times New Roman" panose="02020603050405020304" pitchFamily="18" charset="0"/>
              <a:ea typeface="+mn-ea"/>
              <a:cs typeface="Times New Roman" panose="02020603050405020304" pitchFamily="18" charset="0"/>
            </a:endParaRPr>
          </a:p>
          <a:p>
            <a:pPr marL="12700" marR="0" defTabSz="914400" eaLnBrk="1" fontAlgn="auto" hangingPunct="1">
              <a:spcBef>
                <a:spcPts val="100"/>
              </a:spcBef>
              <a:spcAft>
                <a:spcPts val="0"/>
              </a:spcAft>
              <a:buClrTx/>
              <a:buSzTx/>
              <a:buFontTx/>
              <a:buNone/>
              <a:defRPr/>
            </a:pPr>
            <a:r>
              <a:rPr kumimoji="0" lang="en-US" sz="1500" b="1" i="1" kern="0" cap="none" spc="0" normalizeH="0" baseline="0" noProof="0" dirty="0">
                <a:solidFill>
                  <a:srgbClr val="FFFFFF"/>
                </a:solidFill>
                <a:latin typeface="Times New Roman" panose="02020603050405020304"/>
                <a:ea typeface="+mn-ea"/>
                <a:cs typeface="Times New Roman" panose="02020603050405020304"/>
              </a:rPr>
              <a:t>he</a:t>
            </a:r>
            <a:r>
              <a:rPr kumimoji="0" lang="en-US" sz="1500" b="1" i="1" kern="0" cap="none" spc="-20" normalizeH="0" baseline="0" noProof="0" dirty="0">
                <a:solidFill>
                  <a:srgbClr val="FFFFFF"/>
                </a:solidFill>
                <a:latin typeface="Times New Roman" panose="02020603050405020304"/>
                <a:ea typeface="+mn-ea"/>
                <a:cs typeface="Times New Roman" panose="02020603050405020304"/>
              </a:rPr>
              <a:t> </a:t>
            </a:r>
            <a:r>
              <a:rPr kumimoji="0" lang="en-US" sz="1500" b="1" i="1" kern="0" cap="none" spc="-10" normalizeH="0" baseline="0" noProof="0" dirty="0">
                <a:solidFill>
                  <a:srgbClr val="FFFFFF"/>
                </a:solidFill>
                <a:latin typeface="Times New Roman" panose="02020603050405020304"/>
                <a:ea typeface="+mn-ea"/>
                <a:cs typeface="Times New Roman" panose="02020603050405020304"/>
              </a:rPr>
              <a:t>Project</a:t>
            </a: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r>
              <a:rPr kumimoji="0" lang="en-US" sz="1500" b="1" i="1" kern="0" cap="none" spc="-10" normalizeH="0" baseline="0" noProof="0" dirty="0" err="1">
                <a:solidFill>
                  <a:srgbClr val="FFFFFF"/>
                </a:solidFill>
                <a:latin typeface="Times New Roman" panose="02020603050405020304"/>
                <a:ea typeface="+mn-ea"/>
                <a:cs typeface="Times New Roman" panose="02020603050405020304"/>
              </a:rPr>
              <a:t>ct</a:t>
            </a:r>
            <a:endParaRPr kumimoji="0" sz="15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5363" name="object 3"/>
          <p:cNvGrpSpPr/>
          <p:nvPr/>
        </p:nvGrpSpPr>
        <p:grpSpPr>
          <a:xfrm>
            <a:off x="0" y="217488"/>
            <a:ext cx="12192000" cy="803275"/>
            <a:chOff x="0" y="216720"/>
            <a:chExt cx="12192000" cy="803275"/>
          </a:xfrm>
        </p:grpSpPr>
        <p:pic>
          <p:nvPicPr>
            <p:cNvPr id="15370"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5371"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p:txBody>
          <a:bodyPr vert="horz" wrap="square" lIns="0" tIns="12700" rIns="0" bIns="0" numCol="1" rtlCol="0" anchor="t" anchorCtr="0" compatLnSpc="1">
            <a:spAutoFit/>
          </a:bodyPr>
          <a:lstStyle/>
          <a:p>
            <a:pPr marL="1524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References</a:t>
            </a:r>
          </a:p>
        </p:txBody>
      </p:sp>
      <p:sp>
        <p:nvSpPr>
          <p:cNvPr id="9" name="object 9"/>
          <p:cNvSpPr txBox="1">
            <a:spLocks noGrp="1"/>
          </p:cNvSpPr>
          <p:nvPr>
            <p:ph type="ftr" sz="quarter" idx="3"/>
          </p:nvPr>
        </p:nvSpPr>
        <p:spPr>
          <a:xfrm>
            <a:off x="149225" y="6629400"/>
            <a:ext cx="635000" cy="230188"/>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sz="1600" dirty="0">
                <a:solidFill>
                  <a:schemeClr val="bg1"/>
                </a:solidFill>
                <a:latin typeface="Times New Roman" panose="02020603050405020304" pitchFamily="18" charset="0"/>
                <a:cs typeface="Times New Roman" panose="02020603050405020304" pitchFamily="18" charset="0"/>
              </a:rPr>
              <a:t>B-02</a:t>
            </a:r>
            <a:endParaRPr lang="zh-CN" altLang="x-none" sz="1600">
              <a:solidFill>
                <a:schemeClr val="bg1"/>
              </a:solidFill>
              <a:latin typeface="Times New Roman" panose="02020603050405020304" pitchFamily="18" charset="0"/>
              <a:ea typeface="Times New Roman" panose="02020603050405020304" pitchFamily="18" charset="0"/>
            </a:endParaRPr>
          </a:p>
        </p:txBody>
      </p:sp>
      <p:sp>
        <p:nvSpPr>
          <p:cNvPr id="10" name="object 10"/>
          <p:cNvSpPr txBox="1">
            <a:spLocks noGrp="1"/>
          </p:cNvSpPr>
          <p:nvPr>
            <p:ph type="dt" sz="half" idx="2"/>
          </p:nvPr>
        </p:nvSpPr>
        <p:spPr>
          <a:xfrm>
            <a:off x="1773238" y="6629400"/>
            <a:ext cx="3892550" cy="609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2" name="object 12"/>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13765C11-A78F-4A6B-80B7-001299627C3E}"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9</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1" name="object 11"/>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5369" name="Rectangle 14"/>
          <p:cNvSpPr>
            <a:spLocks noGrp="1"/>
          </p:cNvSpPr>
          <p:nvPr>
            <p:ph type="body" idx="1"/>
          </p:nvPr>
        </p:nvSpPr>
        <p:spPr>
          <a:xfrm>
            <a:off x="236855" y="1217295"/>
            <a:ext cx="11805920" cy="2926715"/>
          </a:xfrm>
          <a:ln/>
        </p:spPr>
        <p:txBody>
          <a:bodyPr vert="horz" wrap="square" lIns="91440" tIns="45720" rIns="91440" bIns="45720" anchor="ctr" anchorCtr="0">
            <a:noAutofit/>
          </a:bodyPr>
          <a:lstStyle/>
          <a:p>
            <a:pPr indent="0">
              <a:lnSpc>
                <a:spcPct val="150000"/>
              </a:lnSpc>
              <a:spcBef>
                <a:spcPct val="0"/>
              </a:spcBef>
              <a:buNone/>
            </a:pPr>
            <a:endParaRPr lang="en-US" altLang="en-US" b="1" u="sng" dirty="0">
              <a:solidFill>
                <a:srgbClr val="25C9FF"/>
              </a:solidFill>
              <a:latin typeface="Times New Roman" panose="02020603050405020304" pitchFamily="18" charset="0"/>
              <a:ea typeface="+mn-ea"/>
              <a:cs typeface="Times New Roman" panose="02020603050405020304" pitchFamily="18" charset="0"/>
            </a:endParaRPr>
          </a:p>
          <a:p>
            <a:pPr indent="0">
              <a:lnSpc>
                <a:spcPct val="150000"/>
              </a:lnSpc>
              <a:spcBef>
                <a:spcPct val="0"/>
              </a:spcBef>
              <a:buNone/>
            </a:pPr>
            <a:endParaRPr lang="en-IN" altLang="en-US" sz="2000" b="1" u="sng" dirty="0">
              <a:solidFill>
                <a:srgbClr val="25C9FF"/>
              </a:solidFill>
              <a:latin typeface="Times New Roman" panose="02020603050405020304" pitchFamily="18" charset="0"/>
              <a:ea typeface="+mn-ea"/>
              <a:cs typeface="Times New Roman" panose="02020603050405020304" pitchFamily="18" charset="0"/>
            </a:endParaRPr>
          </a:p>
          <a:p>
            <a:pPr indent="0">
              <a:lnSpc>
                <a:spcPct val="150000"/>
              </a:lnSpc>
              <a:spcBef>
                <a:spcPct val="0"/>
              </a:spcBef>
              <a:buNone/>
            </a:pPr>
            <a:endParaRPr lang="en-IN" altLang="en-US" sz="2000" dirty="0">
              <a:solidFill>
                <a:schemeClr val="tx1"/>
              </a:solidFill>
              <a:latin typeface="Times New Roman" panose="02020603050405020304" pitchFamily="18" charset="0"/>
              <a:ea typeface="+mn-ea"/>
              <a:cs typeface="Times New Roman" panose="02020603050405020304" pitchFamily="18" charset="0"/>
            </a:endParaRPr>
          </a:p>
          <a:p>
            <a:pPr indent="0">
              <a:lnSpc>
                <a:spcPct val="150000"/>
              </a:lnSpc>
              <a:spcBef>
                <a:spcPct val="0"/>
              </a:spcBef>
              <a:buNone/>
            </a:pPr>
            <a:endParaRPr lang="en-IN" altLang="en-US" sz="2000" dirty="0">
              <a:solidFill>
                <a:schemeClr val="tx1"/>
              </a:solidFill>
              <a:latin typeface="Times New Roman" panose="02020603050405020304" pitchFamily="18" charset="0"/>
              <a:ea typeface="+mn-ea"/>
              <a:cs typeface="Times New Roman" panose="02020603050405020304" pitchFamily="18" charset="0"/>
            </a:endParaRPr>
          </a:p>
          <a:p>
            <a:pPr indent="0">
              <a:lnSpc>
                <a:spcPct val="150000"/>
              </a:lnSpc>
              <a:spcBef>
                <a:spcPct val="0"/>
              </a:spcBef>
              <a:buNone/>
            </a:pPr>
            <a:endParaRPr lang="en-IN" altLang="en-US" sz="2000" dirty="0">
              <a:solidFill>
                <a:schemeClr val="tx1"/>
              </a:solidFill>
              <a:latin typeface="Times New Roman" panose="02020603050405020304" pitchFamily="18" charset="0"/>
              <a:ea typeface="+mn-ea"/>
              <a:cs typeface="Times New Roman" panose="02020603050405020304" pitchFamily="18" charset="0"/>
            </a:endParaRPr>
          </a:p>
          <a:p>
            <a:pPr indent="0">
              <a:lnSpc>
                <a:spcPct val="150000"/>
              </a:lnSpc>
              <a:spcBef>
                <a:spcPct val="0"/>
              </a:spcBef>
              <a:buNone/>
            </a:pPr>
            <a:r>
              <a:rPr lang="en-IN" altLang="en-US" sz="2000" dirty="0">
                <a:solidFill>
                  <a:schemeClr val="tx1"/>
                </a:solidFill>
                <a:latin typeface="Times New Roman" panose="02020603050405020304" pitchFamily="18" charset="0"/>
                <a:ea typeface="+mn-ea"/>
                <a:cs typeface="Times New Roman" panose="02020603050405020304" pitchFamily="18" charset="0"/>
              </a:rPr>
              <a:t>[</a:t>
            </a:r>
            <a:r>
              <a:rPr lang="en-US" altLang="en-US" sz="2000" dirty="0">
                <a:solidFill>
                  <a:schemeClr val="tx1"/>
                </a:solidFill>
                <a:latin typeface="Times New Roman" panose="02020603050405020304" pitchFamily="18" charset="0"/>
                <a:ea typeface="+mn-ea"/>
                <a:cs typeface="Times New Roman" panose="02020603050405020304" pitchFamily="18" charset="0"/>
              </a:rPr>
              <a:t>1] Singh, K. S., and Gupta, R., “Season Classification Using Plant Leaf Images and CNN Models,” International Journal of Computer Vision Research, vol. 14, no. 3, pp. 112–120, May 2021.</a:t>
            </a:r>
          </a:p>
          <a:p>
            <a:pPr indent="0">
              <a:lnSpc>
                <a:spcPct val="150000"/>
              </a:lnSpc>
              <a:spcBef>
                <a:spcPct val="0"/>
              </a:spcBef>
              <a:buNone/>
            </a:pPr>
            <a:endParaRPr lang="en-US" altLang="en-US" sz="2000" dirty="0">
              <a:solidFill>
                <a:schemeClr val="tx1"/>
              </a:solidFill>
              <a:latin typeface="Times New Roman" panose="02020603050405020304" pitchFamily="18" charset="0"/>
              <a:ea typeface="+mn-ea"/>
              <a:cs typeface="Times New Roman" panose="02020603050405020304" pitchFamily="18" charset="0"/>
            </a:endParaRPr>
          </a:p>
          <a:p>
            <a:pPr indent="0">
              <a:lnSpc>
                <a:spcPct val="150000"/>
              </a:lnSpc>
              <a:spcBef>
                <a:spcPct val="0"/>
              </a:spcBef>
              <a:buNone/>
            </a:pPr>
            <a:r>
              <a:rPr lang="en-US" altLang="en-US" sz="2000" dirty="0">
                <a:solidFill>
                  <a:schemeClr val="tx1"/>
                </a:solidFill>
                <a:latin typeface="Times New Roman" panose="02020603050405020304" pitchFamily="18" charset="0"/>
                <a:ea typeface="+mn-ea"/>
                <a:cs typeface="Times New Roman" panose="02020603050405020304" pitchFamily="18" charset="0"/>
              </a:rPr>
              <a:t>[2] Zhou, M., Li, Y., and Chen, X., “Environmental Feature-Based Season Detection Using Machine Learning,” IEEE Access, vol. 9, pp. 78532–78545, Aug. 2021.</a:t>
            </a:r>
          </a:p>
          <a:p>
            <a:pPr indent="0">
              <a:lnSpc>
                <a:spcPct val="150000"/>
              </a:lnSpc>
              <a:spcBef>
                <a:spcPct val="0"/>
              </a:spcBef>
              <a:buNone/>
            </a:pPr>
            <a:endParaRPr lang="en-US" altLang="en-US" sz="2000" dirty="0">
              <a:solidFill>
                <a:schemeClr val="tx1"/>
              </a:solidFill>
              <a:latin typeface="Times New Roman" panose="02020603050405020304" pitchFamily="18" charset="0"/>
              <a:ea typeface="+mn-ea"/>
              <a:cs typeface="Times New Roman" panose="02020603050405020304" pitchFamily="18" charset="0"/>
            </a:endParaRPr>
          </a:p>
          <a:p>
            <a:pPr indent="0">
              <a:lnSpc>
                <a:spcPct val="150000"/>
              </a:lnSpc>
              <a:spcBef>
                <a:spcPct val="0"/>
              </a:spcBef>
              <a:buNone/>
            </a:pPr>
            <a:r>
              <a:rPr lang="en-US" altLang="en-US" sz="2000" dirty="0">
                <a:solidFill>
                  <a:schemeClr val="tx1"/>
                </a:solidFill>
                <a:latin typeface="Times New Roman" panose="02020603050405020304" pitchFamily="18" charset="0"/>
                <a:ea typeface="+mn-ea"/>
                <a:cs typeface="Times New Roman" panose="02020603050405020304" pitchFamily="18" charset="0"/>
              </a:rPr>
              <a:t>[3] Das, A., and Sen, N., “Plant Phenology Detection Using Computer Vision,” Proceedings of the International Conference on Smart Computing and Vision (ICSCV), pp. 233–240, 2020.</a:t>
            </a:r>
          </a:p>
          <a:p>
            <a:pPr indent="0">
              <a:lnSpc>
                <a:spcPct val="150000"/>
              </a:lnSpc>
              <a:spcBef>
                <a:spcPct val="0"/>
              </a:spcBef>
              <a:buNone/>
            </a:pPr>
            <a:endParaRPr lang="en-US" altLang="en-US" sz="2000" dirty="0">
              <a:solidFill>
                <a:schemeClr val="tx1"/>
              </a:solidFill>
              <a:latin typeface="Times New Roman" panose="02020603050405020304" pitchFamily="18" charset="0"/>
              <a:ea typeface="+mn-ea"/>
              <a:cs typeface="Times New Roman" panose="02020603050405020304" pitchFamily="18" charset="0"/>
            </a:endParaRPr>
          </a:p>
          <a:p>
            <a:pPr indent="0">
              <a:lnSpc>
                <a:spcPct val="150000"/>
              </a:lnSpc>
              <a:spcBef>
                <a:spcPct val="0"/>
              </a:spcBef>
              <a:buNone/>
            </a:pPr>
            <a:r>
              <a:rPr lang="en-US" altLang="en-US" sz="2000" dirty="0">
                <a:solidFill>
                  <a:schemeClr val="tx1"/>
                </a:solidFill>
                <a:latin typeface="Times New Roman" panose="02020603050405020304" pitchFamily="18" charset="0"/>
                <a:ea typeface="+mn-ea"/>
                <a:cs typeface="Times New Roman" panose="02020603050405020304" pitchFamily="18" charset="0"/>
              </a:rPr>
              <a:t>[4] Rai, P., and Kaur, S., “Deep Learning Approaches for Weather and Seasonal Pattern Prediction,” Journal of Intelligent Systems, vol. 5, no. 2, pp. 54–63, Feb. 2022.</a:t>
            </a:r>
          </a:p>
          <a:p>
            <a:pPr indent="0">
              <a:lnSpc>
                <a:spcPct val="150000"/>
              </a:lnSpc>
              <a:spcBef>
                <a:spcPct val="0"/>
              </a:spcBef>
              <a:buNone/>
            </a:pPr>
            <a:r>
              <a:rPr lang="en-US" altLang="en-US" sz="2000" dirty="0">
                <a:solidFill>
                  <a:schemeClr val="tx1"/>
                </a:solidFill>
                <a:latin typeface="Times New Roman" panose="02020603050405020304" pitchFamily="18" charset="0"/>
                <a:ea typeface="+mn-ea"/>
                <a:cs typeface="Times New Roman" panose="02020603050405020304"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bject 3"/>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4" name="object 4"/>
          <p:cNvSpPr txBox="1"/>
          <p:nvPr/>
        </p:nvSpPr>
        <p:spPr>
          <a:xfrm>
            <a:off x="1773238" y="-19050"/>
            <a:ext cx="8135938" cy="974725"/>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kumimoji="0" lang="en-US" sz="1500" b="1" i="1" kern="0" cap="none" spc="-10" normalizeH="0" baseline="0" noProof="0" dirty="0">
                <a:solidFill>
                  <a:srgbClr val="FFFFFF"/>
                </a:solidFill>
                <a:latin typeface="Times New Roman" panose="02020603050405020304"/>
                <a:ea typeface="+mn-ea"/>
                <a:cs typeface="Times New Roman" panose="02020603050405020304"/>
              </a:rPr>
              <a:t> </a:t>
            </a:r>
            <a:r>
              <a:rPr kumimoji="0" lang="en-US" altLang="en-US" sz="1500" b="1" i="1" kern="1200" cap="none" spc="0" normalizeH="0" baseline="0" noProof="0" dirty="0" err="1">
                <a:solidFill>
                  <a:srgbClr val="FFFFFF"/>
                </a:solidFill>
                <a:latin typeface="Times New Roman" panose="02020603050405020304" pitchFamily="18" charset="0"/>
                <a:ea typeface="+mn-ea"/>
                <a:cs typeface="Times New Roman" panose="02020603050405020304" pitchFamily="18" charset="0"/>
              </a:rPr>
              <a:t>ECOVISION:Deep</a:t>
            </a:r>
            <a:r>
              <a:rPr kumimoji="0" lang="en-US" altLang="en-US" sz="1500" b="1" i="1" kern="1200" cap="none" spc="0" normalizeH="0" baseline="0" noProof="0" dirty="0">
                <a:solidFill>
                  <a:srgbClr val="FFFFFF"/>
                </a:solidFill>
                <a:latin typeface="Times New Roman" panose="02020603050405020304" pitchFamily="18" charset="0"/>
                <a:ea typeface="+mn-ea"/>
                <a:cs typeface="Times New Roman" panose="02020603050405020304" pitchFamily="18" charset="0"/>
              </a:rPr>
              <a:t> Learning model for Seasonal Detection </a:t>
            </a:r>
            <a:endParaRPr kumimoji="0" lang="en-US" altLang="en-US" sz="1500" kern="1200" cap="none" spc="0" normalizeH="0" baseline="0" noProof="0" dirty="0">
              <a:solidFill>
                <a:srgbClr val="000000"/>
              </a:solidFill>
              <a:latin typeface="Times New Roman" panose="02020603050405020304" pitchFamily="18" charset="0"/>
              <a:ea typeface="+mn-ea"/>
              <a:cs typeface="Times New Roman" panose="02020603050405020304" pitchFamily="18" charset="0"/>
            </a:endParaRPr>
          </a:p>
          <a:p>
            <a:pPr marL="12700" marR="0" defTabSz="914400" eaLnBrk="1" fontAlgn="auto" hangingPunct="1">
              <a:spcBef>
                <a:spcPts val="100"/>
              </a:spcBef>
              <a:spcAft>
                <a:spcPts val="0"/>
              </a:spcAft>
              <a:buClrTx/>
              <a:buSzTx/>
              <a:buFontTx/>
              <a:buNone/>
              <a:defRPr/>
            </a:pPr>
            <a:r>
              <a:rPr kumimoji="0" lang="en-US" sz="1500" b="1" i="1" kern="0" cap="none" spc="0" normalizeH="0" baseline="0" noProof="0" dirty="0">
                <a:solidFill>
                  <a:srgbClr val="FFFFFF"/>
                </a:solidFill>
                <a:latin typeface="Times New Roman" panose="02020603050405020304"/>
                <a:ea typeface="+mn-ea"/>
                <a:cs typeface="Times New Roman" panose="02020603050405020304"/>
              </a:rPr>
              <a:t>he</a:t>
            </a:r>
            <a:r>
              <a:rPr kumimoji="0" lang="en-US" sz="1500" b="1" i="1" kern="0" cap="none" spc="-20" normalizeH="0" baseline="0" noProof="0" dirty="0">
                <a:solidFill>
                  <a:srgbClr val="FFFFFF"/>
                </a:solidFill>
                <a:latin typeface="Times New Roman" panose="02020603050405020304"/>
                <a:ea typeface="+mn-ea"/>
                <a:cs typeface="Times New Roman" panose="02020603050405020304"/>
              </a:rPr>
              <a:t> </a:t>
            </a:r>
            <a:r>
              <a:rPr kumimoji="0" lang="en-US" sz="1500" b="1" i="1" kern="0" cap="none" spc="-10" normalizeH="0" baseline="0" noProof="0" dirty="0">
                <a:solidFill>
                  <a:srgbClr val="FFFFFF"/>
                </a:solidFill>
                <a:latin typeface="Times New Roman" panose="02020603050405020304"/>
                <a:ea typeface="+mn-ea"/>
                <a:cs typeface="Times New Roman" panose="02020603050405020304"/>
              </a:rPr>
              <a:t>Project</a:t>
            </a: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r>
              <a:rPr kumimoji="0" lang="en-US" sz="1500" b="1" i="1" kern="0" cap="none" spc="-10" normalizeH="0" baseline="0" noProof="0" dirty="0" err="1">
                <a:solidFill>
                  <a:srgbClr val="FFFFFF"/>
                </a:solidFill>
                <a:latin typeface="Times New Roman" panose="02020603050405020304"/>
                <a:ea typeface="+mn-ea"/>
                <a:cs typeface="Times New Roman" panose="02020603050405020304"/>
              </a:rPr>
              <a:t>ct</a:t>
            </a:r>
            <a:endParaRPr kumimoji="0" sz="15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6388" name="object 5"/>
          <p:cNvGrpSpPr/>
          <p:nvPr/>
        </p:nvGrpSpPr>
        <p:grpSpPr>
          <a:xfrm>
            <a:off x="0" y="217488"/>
            <a:ext cx="12192000" cy="803275"/>
            <a:chOff x="0" y="216720"/>
            <a:chExt cx="12192000" cy="803275"/>
          </a:xfrm>
        </p:grpSpPr>
        <p:pic>
          <p:nvPicPr>
            <p:cNvPr id="16395" name="object 6"/>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6396" name="object 7"/>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8" name="object 8"/>
          <p:cNvSpPr txBox="1">
            <a:spLocks noGrp="1"/>
          </p:cNvSpPr>
          <p:nvPr>
            <p:ph type="title"/>
          </p:nvPr>
        </p:nvSpPr>
        <p:spPr>
          <a:xfrm>
            <a:off x="73025" y="182563"/>
            <a:ext cx="8135938" cy="695325"/>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1966595" algn="l"/>
                <a:tab pos="5348605" algn="l"/>
                <a:tab pos="6511925" algn="l"/>
              </a:tabLst>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Git</a:t>
            </a:r>
            <a:r>
              <a:rPr kumimoji="0" sz="4400" b="0" i="0" u="none" strike="noStrike" kern="0" cap="none" spc="-7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Hub</a:t>
            </a: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	Dashboards</a:t>
            </a:r>
            <a:r>
              <a:rPr kumimoji="0" sz="4400" b="0" i="0" u="none" strike="noStrike" kern="0" cap="none" spc="-6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20" normalizeH="0" baseline="0" noProof="0" dirty="0">
                <a:ln>
                  <a:noFill/>
                </a:ln>
                <a:solidFill>
                  <a:schemeClr val="bg1"/>
                </a:solidFill>
                <a:effectLst/>
                <a:uLnTx/>
                <a:uFillTx/>
                <a:latin typeface="Times New Roman" panose="02020603050405020304"/>
                <a:ea typeface="+mj-ea"/>
                <a:cs typeface="Times New Roman" panose="02020603050405020304"/>
              </a:rPr>
              <a:t>each</a:t>
            </a: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student</a:t>
            </a:r>
          </a:p>
        </p:txBody>
      </p:sp>
      <p:sp>
        <p:nvSpPr>
          <p:cNvPr id="10" name="object 10"/>
          <p:cNvSpPr txBox="1">
            <a:spLocks noGrp="1"/>
          </p:cNvSpPr>
          <p:nvPr>
            <p:ph type="ftr" sz="quarter" idx="10"/>
          </p:nvPr>
        </p:nvSpPr>
        <p:spPr>
          <a:xfrm>
            <a:off x="149225" y="6629400"/>
            <a:ext cx="635000" cy="230188"/>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sz="1600" dirty="0">
                <a:solidFill>
                  <a:schemeClr val="bg1"/>
                </a:solidFill>
                <a:latin typeface="Times New Roman" panose="02020603050405020304" pitchFamily="18" charset="0"/>
                <a:cs typeface="Times New Roman" panose="02020603050405020304" pitchFamily="18" charset="0"/>
              </a:rPr>
              <a:t>B-02</a:t>
            </a:r>
            <a:endParaRPr lang="zh-CN" altLang="x-none" sz="1600">
              <a:solidFill>
                <a:schemeClr val="bg1"/>
              </a:solidFill>
              <a:latin typeface="Times New Roman" panose="02020603050405020304" pitchFamily="18" charset="0"/>
              <a:ea typeface="Times New Roman" panose="02020603050405020304" pitchFamily="18" charset="0"/>
            </a:endParaRPr>
          </a:p>
        </p:txBody>
      </p:sp>
      <p:sp>
        <p:nvSpPr>
          <p:cNvPr id="11" name="object 11"/>
          <p:cNvSpPr txBox="1">
            <a:spLocks noGrp="1"/>
          </p:cNvSpPr>
          <p:nvPr>
            <p:ph type="dt" sz="half" idx="11"/>
          </p:nvPr>
        </p:nvSpPr>
        <p:spPr>
          <a:xfrm>
            <a:off x="1773238" y="6629400"/>
            <a:ext cx="4619625"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2" name="object 12"/>
          <p:cNvSpPr txBox="1"/>
          <p:nvPr/>
        </p:nvSpPr>
        <p:spPr>
          <a:xfrm>
            <a:off x="7146925" y="6629400"/>
            <a:ext cx="42830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3" name="object 13"/>
          <p:cNvSpPr txBox="1">
            <a:spLocks noGrp="1"/>
          </p:cNvSpPr>
          <p:nvPr>
            <p:ph type="sldNum" sz="quarter" idx="12"/>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97B0158F-703D-4B01-ACB8-3902897B5633}"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10</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p:cNvSpPr txBox="1"/>
          <p:nvPr/>
        </p:nvSpPr>
        <p:spPr>
          <a:xfrm>
            <a:off x="567690" y="6264275"/>
            <a:ext cx="9033510" cy="289823"/>
          </a:xfrm>
          <a:prstGeom prst="rect">
            <a:avLst/>
          </a:prstGeom>
        </p:spPr>
        <p:txBody>
          <a:bodyPr wrap="square" lIns="0" tIns="12700" rIns="0" bIns="0">
            <a:spAutoFit/>
          </a:bodyPr>
          <a:lstStyle/>
          <a:p>
            <a:pPr marL="12700" marR="0" defTabSz="914400" eaLnBrk="1" fontAlgn="auto" hangingPunct="1">
              <a:spcBef>
                <a:spcPts val="100"/>
              </a:spcBef>
              <a:spcAft>
                <a:spcPts val="0"/>
              </a:spcAft>
              <a:buClrTx/>
              <a:buSzTx/>
              <a:buFontTx/>
              <a:buNone/>
              <a:defRPr/>
            </a:pPr>
            <a:r>
              <a:rPr kumimoji="0" kern="0" cap="none" spc="0" normalizeH="0" baseline="0" noProof="0" dirty="0">
                <a:solidFill>
                  <a:sysClr val="windowText" lastClr="000000"/>
                </a:solidFill>
                <a:latin typeface="Arial MT"/>
                <a:ea typeface="+mn-ea"/>
                <a:cs typeface="Arial MT"/>
              </a:rPr>
              <a:t>link</a:t>
            </a:r>
            <a:r>
              <a:rPr kumimoji="0" kern="0" cap="none" spc="-10" normalizeH="0" baseline="0" noProof="0" dirty="0">
                <a:solidFill>
                  <a:sysClr val="windowText" lastClr="000000"/>
                </a:solidFill>
                <a:latin typeface="Arial MT"/>
                <a:ea typeface="+mn-ea"/>
                <a:cs typeface="Arial MT"/>
              </a:rPr>
              <a:t> </a:t>
            </a:r>
            <a:r>
              <a:rPr kumimoji="0" kern="0" cap="none" spc="0" normalizeH="0" baseline="0" noProof="0" dirty="0">
                <a:solidFill>
                  <a:sysClr val="windowText" lastClr="000000"/>
                </a:solidFill>
                <a:latin typeface="Arial MT"/>
                <a:ea typeface="+mn-ea"/>
                <a:cs typeface="Arial MT"/>
              </a:rPr>
              <a:t>of</a:t>
            </a:r>
            <a:r>
              <a:rPr kumimoji="0" kern="0" cap="none" spc="-10" normalizeH="0" baseline="0" noProof="0" dirty="0">
                <a:solidFill>
                  <a:sysClr val="windowText" lastClr="000000"/>
                </a:solidFill>
                <a:latin typeface="Arial MT"/>
                <a:ea typeface="+mn-ea"/>
                <a:cs typeface="Arial MT"/>
              </a:rPr>
              <a:t> </a:t>
            </a:r>
            <a:r>
              <a:rPr kumimoji="0" kern="0" cap="none" spc="0" normalizeH="0" baseline="0" noProof="0" dirty="0">
                <a:solidFill>
                  <a:sysClr val="windowText" lastClr="000000"/>
                </a:solidFill>
                <a:latin typeface="Arial MT"/>
                <a:ea typeface="+mn-ea"/>
                <a:cs typeface="Arial MT"/>
              </a:rPr>
              <a:t>the</a:t>
            </a:r>
            <a:r>
              <a:rPr kumimoji="0" kern="0" cap="none" spc="-10" normalizeH="0" baseline="0" noProof="0" dirty="0">
                <a:solidFill>
                  <a:sysClr val="windowText" lastClr="000000"/>
                </a:solidFill>
                <a:latin typeface="Arial MT"/>
                <a:ea typeface="+mn-ea"/>
                <a:cs typeface="Arial MT"/>
              </a:rPr>
              <a:t> Github</a:t>
            </a:r>
            <a:r>
              <a:rPr kumimoji="0" lang="en-IN" kern="0" cap="none" spc="-10" normalizeH="0" baseline="0" noProof="0" dirty="0">
                <a:solidFill>
                  <a:sysClr val="windowText" lastClr="000000"/>
                </a:solidFill>
                <a:latin typeface="Arial MT"/>
                <a:ea typeface="+mn-ea"/>
                <a:cs typeface="Arial MT"/>
              </a:rPr>
              <a:t>:     </a:t>
            </a:r>
            <a:r>
              <a:rPr kumimoji="0" lang="en-US" altLang="en-US" b="1" u="sng" kern="0" cap="none" spc="-10" normalizeH="0" baseline="0" noProof="0" dirty="0">
                <a:solidFill>
                  <a:sysClr val="windowText" lastClr="000000"/>
                </a:solidFill>
                <a:latin typeface="Arial MT"/>
                <a:ea typeface="+mn-ea"/>
                <a:cs typeface="Arial MT"/>
              </a:rPr>
              <a:t>https://github.com/Sharath599/Batch-B02-2025-2026</a:t>
            </a:r>
          </a:p>
        </p:txBody>
      </p:sp>
      <p:pic>
        <p:nvPicPr>
          <p:cNvPr id="3" name="Picture 2" descr="WhatsApp Image 2025-12-02 at 10.29.56 PM"/>
          <p:cNvPicPr>
            <a:picLocks noChangeAspect="1"/>
          </p:cNvPicPr>
          <p:nvPr/>
        </p:nvPicPr>
        <p:blipFill>
          <a:blip r:embed="rId3"/>
          <a:stretch>
            <a:fillRect/>
          </a:stretch>
        </p:blipFill>
        <p:spPr>
          <a:xfrm>
            <a:off x="457200" y="1219200"/>
            <a:ext cx="10986135" cy="45269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bject 2"/>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3" name="object 3"/>
          <p:cNvSpPr txBox="1"/>
          <p:nvPr/>
        </p:nvSpPr>
        <p:spPr>
          <a:xfrm>
            <a:off x="1773238" y="-19050"/>
            <a:ext cx="8208963" cy="974725"/>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kumimoji="0" lang="en-US" sz="1500" b="1" i="1" kern="0" cap="none" spc="-10" normalizeH="0" baseline="0" noProof="0" dirty="0">
                <a:solidFill>
                  <a:srgbClr val="FFFFFF"/>
                </a:solidFill>
                <a:latin typeface="Times New Roman" panose="02020603050405020304"/>
                <a:ea typeface="+mn-ea"/>
                <a:cs typeface="Times New Roman" panose="02020603050405020304"/>
              </a:rPr>
              <a:t> </a:t>
            </a:r>
            <a:r>
              <a:rPr kumimoji="0" lang="en-US" altLang="en-US" sz="1500" b="1" i="1" kern="1200" cap="none" spc="0" normalizeH="0" baseline="0" noProof="0" dirty="0" err="1">
                <a:solidFill>
                  <a:srgbClr val="FFFFFF"/>
                </a:solidFill>
                <a:latin typeface="Times New Roman" panose="02020603050405020304" pitchFamily="18" charset="0"/>
                <a:ea typeface="+mn-ea"/>
                <a:cs typeface="Times New Roman" panose="02020603050405020304" pitchFamily="18" charset="0"/>
              </a:rPr>
              <a:t>ECOVISION:Deep</a:t>
            </a:r>
            <a:r>
              <a:rPr kumimoji="0" lang="en-US" altLang="en-US" sz="1500" b="1" i="1" kern="1200" cap="none" spc="0" normalizeH="0" baseline="0" noProof="0" dirty="0">
                <a:solidFill>
                  <a:srgbClr val="FFFFFF"/>
                </a:solidFill>
                <a:latin typeface="Times New Roman" panose="02020603050405020304" pitchFamily="18" charset="0"/>
                <a:ea typeface="+mn-ea"/>
                <a:cs typeface="Times New Roman" panose="02020603050405020304" pitchFamily="18" charset="0"/>
              </a:rPr>
              <a:t> Learning model for Seasonal Detection </a:t>
            </a:r>
            <a:endParaRPr kumimoji="0" lang="en-US" altLang="en-US" sz="1500" kern="1200" cap="none" spc="0" normalizeH="0" baseline="0" noProof="0" dirty="0">
              <a:solidFill>
                <a:srgbClr val="000000"/>
              </a:solidFill>
              <a:latin typeface="Times New Roman" panose="02020603050405020304" pitchFamily="18" charset="0"/>
              <a:ea typeface="+mn-ea"/>
              <a:cs typeface="Times New Roman" panose="02020603050405020304" pitchFamily="18" charset="0"/>
            </a:endParaRPr>
          </a:p>
          <a:p>
            <a:pPr marL="12700" marR="0" defTabSz="914400" eaLnBrk="1" fontAlgn="auto" hangingPunct="1">
              <a:spcBef>
                <a:spcPts val="100"/>
              </a:spcBef>
              <a:spcAft>
                <a:spcPts val="0"/>
              </a:spcAft>
              <a:buClrTx/>
              <a:buSzTx/>
              <a:buFontTx/>
              <a:buNone/>
              <a:defRPr/>
            </a:pPr>
            <a:r>
              <a:rPr kumimoji="0" lang="en-US" sz="1500" b="1" i="1" kern="0" cap="none" spc="0" normalizeH="0" baseline="0" noProof="0" dirty="0">
                <a:solidFill>
                  <a:srgbClr val="FFFFFF"/>
                </a:solidFill>
                <a:latin typeface="Times New Roman" panose="02020603050405020304"/>
                <a:ea typeface="+mn-ea"/>
                <a:cs typeface="Times New Roman" panose="02020603050405020304"/>
              </a:rPr>
              <a:t>he</a:t>
            </a:r>
            <a:r>
              <a:rPr kumimoji="0" lang="en-US" sz="1500" b="1" i="1" kern="0" cap="none" spc="-20" normalizeH="0" baseline="0" noProof="0" dirty="0">
                <a:solidFill>
                  <a:srgbClr val="FFFFFF"/>
                </a:solidFill>
                <a:latin typeface="Times New Roman" panose="02020603050405020304"/>
                <a:ea typeface="+mn-ea"/>
                <a:cs typeface="Times New Roman" panose="02020603050405020304"/>
              </a:rPr>
              <a:t> </a:t>
            </a:r>
            <a:r>
              <a:rPr kumimoji="0" lang="en-US" sz="1500" b="1" i="1" kern="0" cap="none" spc="-10" normalizeH="0" baseline="0" noProof="0" dirty="0">
                <a:solidFill>
                  <a:srgbClr val="FFFFFF"/>
                </a:solidFill>
                <a:latin typeface="Times New Roman" panose="02020603050405020304"/>
                <a:ea typeface="+mn-ea"/>
                <a:cs typeface="Times New Roman" panose="02020603050405020304"/>
              </a:rPr>
              <a:t>Project</a:t>
            </a: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a:p>
            <a:pPr marL="12700" marR="0" defTabSz="914400" eaLnBrk="1" fontAlgn="auto" hangingPunct="1">
              <a:spcBef>
                <a:spcPts val="100"/>
              </a:spcBef>
              <a:spcAft>
                <a:spcPts val="0"/>
              </a:spcAft>
              <a:buClrTx/>
              <a:buSzTx/>
              <a:buFontTx/>
              <a:buNone/>
              <a:defRPr/>
            </a:pPr>
            <a:r>
              <a:rPr kumimoji="0" lang="en-US" sz="1500" b="1" i="1" kern="0" cap="none" spc="-10" normalizeH="0" baseline="0" noProof="0" dirty="0" err="1">
                <a:solidFill>
                  <a:srgbClr val="FFFFFF"/>
                </a:solidFill>
                <a:latin typeface="Times New Roman" panose="02020603050405020304"/>
                <a:ea typeface="+mn-ea"/>
                <a:cs typeface="Times New Roman" panose="02020603050405020304"/>
              </a:rPr>
              <a:t>ct</a:t>
            </a:r>
            <a:endParaRPr kumimoji="0" sz="15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5" name="object 5"/>
          <p:cNvSpPr txBox="1">
            <a:spLocks noGrp="1"/>
          </p:cNvSpPr>
          <p:nvPr>
            <p:ph type="ftr" sz="quarter" idx="10"/>
          </p:nvPr>
        </p:nvSpPr>
        <p:spPr>
          <a:xfrm>
            <a:off x="149225" y="6629400"/>
            <a:ext cx="635000" cy="230188"/>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sz="1600" dirty="0">
                <a:solidFill>
                  <a:schemeClr val="bg1"/>
                </a:solidFill>
                <a:latin typeface="Times New Roman" panose="02020603050405020304" pitchFamily="18" charset="0"/>
                <a:cs typeface="Times New Roman" panose="02020603050405020304" pitchFamily="18" charset="0"/>
              </a:rPr>
              <a:t>B-02</a:t>
            </a:r>
            <a:endParaRPr lang="zh-CN" altLang="x-none" sz="1600">
              <a:solidFill>
                <a:schemeClr val="bg1"/>
              </a:solidFill>
              <a:latin typeface="Times New Roman" panose="02020603050405020304" pitchFamily="18" charset="0"/>
              <a:ea typeface="Times New Roman" panose="02020603050405020304" pitchFamily="18" charset="0"/>
            </a:endParaRPr>
          </a:p>
        </p:txBody>
      </p:sp>
      <p:sp>
        <p:nvSpPr>
          <p:cNvPr id="6" name="object 6"/>
          <p:cNvSpPr txBox="1">
            <a:spLocks noGrp="1"/>
          </p:cNvSpPr>
          <p:nvPr>
            <p:ph type="dt" sz="half" idx="11"/>
          </p:nvPr>
        </p:nvSpPr>
        <p:spPr>
          <a:xfrm>
            <a:off x="1773238" y="6629400"/>
            <a:ext cx="4322763"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7" name="object 7"/>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8" name="object 8"/>
          <p:cNvSpPr txBox="1">
            <a:spLocks noGrp="1"/>
          </p:cNvSpPr>
          <p:nvPr>
            <p:ph type="sldNum" sz="quarter" idx="12"/>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39B4845-06F7-44E9-A15D-A364008AF767}"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11</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4" name="object 4"/>
          <p:cNvSpPr txBox="1">
            <a:spLocks noGrp="1"/>
          </p:cNvSpPr>
          <p:nvPr>
            <p:ph type="title"/>
          </p:nvPr>
        </p:nvSpPr>
        <p:spPr>
          <a:xfrm>
            <a:off x="2705100" y="2352675"/>
            <a:ext cx="6692900" cy="1487488"/>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9600" b="0" i="1" u="none" strike="noStrike" kern="0" cap="none" spc="0" normalizeH="0" baseline="0" noProof="0" dirty="0">
                <a:ln>
                  <a:noFill/>
                </a:ln>
                <a:solidFill>
                  <a:srgbClr val="FF6600"/>
                </a:solidFill>
                <a:effectLst/>
                <a:uLnTx/>
                <a:uFillTx/>
                <a:latin typeface="Times New Roman" panose="02020603050405020304"/>
                <a:ea typeface="+mj-ea"/>
                <a:cs typeface="Times New Roman" panose="02020603050405020304"/>
              </a:rPr>
              <a:t>Any</a:t>
            </a:r>
            <a:r>
              <a:rPr kumimoji="0" sz="9600" b="0" i="1" u="none" strike="noStrike" kern="0" cap="none" spc="-30" normalizeH="0" baseline="0" noProof="0" dirty="0">
                <a:ln>
                  <a:noFill/>
                </a:ln>
                <a:solidFill>
                  <a:srgbClr val="FF6600"/>
                </a:solidFill>
                <a:effectLst/>
                <a:uLnTx/>
                <a:uFillTx/>
                <a:latin typeface="Times New Roman" panose="02020603050405020304"/>
                <a:ea typeface="+mj-ea"/>
                <a:cs typeface="Times New Roman" panose="02020603050405020304"/>
              </a:rPr>
              <a:t> </a:t>
            </a:r>
            <a:r>
              <a:rPr kumimoji="0" sz="9600" b="0" i="1" u="none" strike="noStrike" kern="0" cap="none" spc="-10" normalizeH="0" baseline="0" noProof="0" dirty="0">
                <a:ln>
                  <a:noFill/>
                </a:ln>
                <a:solidFill>
                  <a:srgbClr val="FF6600"/>
                </a:solidFill>
                <a:effectLst/>
                <a:uLnTx/>
                <a:uFillTx/>
                <a:latin typeface="Times New Roman" panose="02020603050405020304"/>
                <a:ea typeface="+mj-ea"/>
                <a:cs typeface="Times New Roman" panose="02020603050405020304"/>
              </a:rPr>
              <a:t>Queries?</a:t>
            </a:r>
            <a:endParaRPr kumimoji="0" sz="9600" b="0" i="0" u="none" strike="noStrike" kern="0" cap="none" spc="0" normalizeH="0" baseline="0" noProof="0">
              <a:ln>
                <a:noFill/>
              </a:ln>
              <a:solidFill>
                <a:schemeClr val="bg1"/>
              </a:solidFill>
              <a:effectLst/>
              <a:uLnTx/>
              <a:uFillTx/>
              <a:latin typeface="Times New Roman" panose="02020603050405020304"/>
              <a:ea typeface="+mj-ea"/>
              <a:cs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TotalTime>
  <Words>1792</Words>
  <Application>Microsoft Office PowerPoint</Application>
  <PresentationFormat>Widescreen</PresentationFormat>
  <Paragraphs>160</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宋体</vt:lpstr>
      <vt:lpstr>Arial</vt:lpstr>
      <vt:lpstr>Arial MT</vt:lpstr>
      <vt:lpstr>Calibri</vt:lpstr>
      <vt:lpstr>Lucida Sans Unicode</vt:lpstr>
      <vt:lpstr>Times New Roman</vt:lpstr>
      <vt:lpstr>Office Theme</vt:lpstr>
      <vt:lpstr>ECOVISION:Deep Learning Model for Seasonal Detection</vt:lpstr>
      <vt:lpstr>Contents</vt:lpstr>
      <vt:lpstr>Title Justification</vt:lpstr>
      <vt:lpstr>Abstract</vt:lpstr>
      <vt:lpstr>Problem Statement</vt:lpstr>
      <vt:lpstr>Objective of Project</vt:lpstr>
      <vt:lpstr>PowerPoint Presentation</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ECOVISION:Deep Learning Model foy Seasonal Detection</dc:title>
  <dc:creator>DELL E5490</dc:creator>
  <cp:lastModifiedBy>sharath vadde</cp:lastModifiedBy>
  <cp:revision>23</cp:revision>
  <dcterms:created xsi:type="dcterms:W3CDTF">2025-12-02T14:37:55Z</dcterms:created>
  <dcterms:modified xsi:type="dcterms:W3CDTF">2025-12-11T08:07:40Z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2025-12-02T05:30:00Z</vt:filetime>
  </property>
  <property fmtid="{D5CDD505-2E9C-101B-9397-08002B2CF9AE}" pid="3" name="Creator">
    <vt:lpwstr>Google</vt:lpwstr>
  </property>
  <property fmtid="{D5CDD505-2E9C-101B-9397-08002B2CF9AE}" pid="4" name="LastSaved">
    <vt:filetime>2025-12-02T05:30:00Z</vt:filetime>
  </property>
  <property fmtid="{D5CDD505-2E9C-101B-9397-08002B2CF9AE}" pid="5" name="ICV">
    <vt:lpwstr>E8DA6CA97EDE4DC7B3CF7BF91B75CE3D_12</vt:lpwstr>
  </property>
  <property fmtid="{D5CDD505-2E9C-101B-9397-08002B2CF9AE}" pid="6" name="KSOProductBuildVer">
    <vt:lpwstr>1033-12.2.0.23155</vt:lpwstr>
  </property>
</Properties>
</file>